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Giới thiệu đề tài học phần Quản lý dự án CNTT, cơ cấu nhóm 4 thành viên.</a:t>
            </a:r>
          </a:p>
          <a:p/>
          <a:p>
            <a:r>
              <a:t>LỜI THUYẾT MINH GỢI Ý:</a:t>
            </a:r>
          </a:p>
          <a:p>
            <a:r>
              <a:t>Kính thưa quý Thầy Cô trong Hội đồng chấm đồ án, hôm nay nhóm 4 sinh viên chúng em xin đại diện báo cáo hồ sơ kế hoạch quản lý dự án công nghệ thông tin cho nền tảng WorkSphere theo tiêu chuẩn quản trị dự án chuyên nghiệp.</a:t>
            </a:r>
          </a:p>
          <a:p/>
          <a:p>
            <a:r>
              <a:t>THỜI LƯỢNG DỰ KIẾN: 20 giây (~0.3 phút) (PROJECT_PROPOSAL)</a:t>
            </a:r>
          </a:p>
          <a:p>
            <a:r>
              <a:t>NGƯỜI THUYẾT TRÌNH: Nguyễn Minh Hiếu (BIT247729) (PROPOSED_ASSIGNMENT_PENDING_USER_APPROVAL)</a:t>
            </a:r>
          </a:p>
          <a:p>
            <a:r>
              <a:t>CĂN CỨ MINH CHỨNG: reports/stage20/it-project-management/BAO_CAO_QUAN_LY_DU_AN_CNTT_WORKSPHERE.pdf</a:t>
            </a:r>
          </a:p>
          <a:p>
            <a:r>
              <a:t>CÂU HỎI HỘI ĐỒNG DỰ KIẾN: Dữ liệu trình bày trong hồ sơ này là dữ liệu thực tế hay mô hình?</a:t>
            </a:r>
          </a:p>
          <a:p>
            <a:r>
              <a:t>CÂU TRẢ LỜI AN TOÀN: Dữ liệu tiến độ và công nhật được xây dựng theo mô hình kế hoạch dự án chuẩn (PROJECT_PLAN_MODEL) để đối soát phương pháp luận, không phải là bảng chấm công thực tế lịch sử.</a:t>
            </a:r>
          </a:p>
          <a:p>
            <a:r>
              <a:t>GỢI Ý CHUYỂN SLIDE / DEMO: Trước hết, em xin trình bày về Điều lệ dự án và mục tiêu chiến lược.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Làm rõ Điều lệ dự án và các mục tiêu định lượng theo nguyên tắc SMART.</a:t>
            </a:r>
          </a:p>
          <a:p/>
          <a:p>
            <a:r>
              <a:t>LỜI THUYẾT MINH GỢI Ý:</a:t>
            </a:r>
          </a:p>
          <a:p>
            <a:r>
              <a:t>Một dự án thành công bắt đầu từ một Project Charter rõ ràng. WorkSphere thiết lập các mục tiêu đo lường được cụ thể: không chỉ bàn giao phần mềm chạy được mà còn phải vượt qua toàn bộ các cổng kiểm soát chất lượng tự động trong thời hạn 51 ngày làm việc.</a:t>
            </a:r>
          </a:p>
          <a:p/>
          <a:p>
            <a:r>
              <a:t>THỜI LƯỢNG DỰ KIẾN: 50 giây (~0.8 phút) (PROJECT_PROPOSAL)</a:t>
            </a:r>
          </a:p>
          <a:p>
            <a:r>
              <a:t>NGƯỜI THUYẾT TRÌNH: Nguyễn Minh Hiếu (BIT247729) (PROPOSED_ASSIGNMENT_PENDING_USER_APPROVAL)</a:t>
            </a:r>
          </a:p>
          <a:p>
            <a:r>
              <a:t>CĂN CỨ MINH CHỨNG: Chương 1 Báo cáo Quản lý dự án CNTT</a:t>
            </a:r>
          </a:p>
          <a:p>
            <a:r>
              <a:t>CÂU HỎI HỘI ĐỒNG DỰ KIẾN: Ai là người phê duyệt Điều lệ dự án này?</a:t>
            </a:r>
          </a:p>
          <a:p>
            <a:r>
              <a:t>CÂU TRẢ LỜI AN TOÀN: Project Charter được đề xuất bởi nhóm sinh viên và được bảo vệ, phê duyệt bởi Giảng viên phụ trách học phần Quản lý dự án CNTT.</a:t>
            </a:r>
          </a:p>
          <a:p>
            <a:r>
              <a:t>GỢI Ý CHUYỂN SLIDE / DEMO: Tiếp theo, em xin giới thiệu cơ cấu các bên liên quan và vòng đời dự án.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Trình bày chiến lược quản lý các bên liên quan và mô hình vòng đời phát triển lai phù hợp.</a:t>
            </a:r>
          </a:p>
          <a:p/>
          <a:p>
            <a:r>
              <a:t>LỜI THUYẾT MINH GỢI Ý:</a:t>
            </a:r>
          </a:p>
          <a:p>
            <a:r>
              <a:t>WorkSphere áp dụng mô hình vòng đời phát triển lai (Hybrid Lifecycle): Nhóm sử dụng phương pháp quản lý kế hoạch chặt chẽ ở khâu thiết kế kiến trúc và CSDL, nhưng chuyển sang mô hình Agile lặp nhanh khi phát triển tính năng và kiểm thử tự động.</a:t>
            </a:r>
          </a:p>
          <a:p/>
          <a:p>
            <a:r>
              <a:t>THỜI LƯỢNG DỰ KIẾN: 60 giây (~1.0 phút) (PROJECT_PROPOSAL)</a:t>
            </a:r>
          </a:p>
          <a:p>
            <a:r>
              <a:t>NGƯỜI THUYẾT TRÌNH: Nguyễn Minh Hiếu (BIT247729) (PROPOSED_ASSIGNMENT_PENDING_USER_APPROVAL)</a:t>
            </a:r>
          </a:p>
          <a:p>
            <a:r>
              <a:t>CĂN CỨ MINH CHỨNG: Chương 1.2 Báo cáo Quản lý dự án CNTT</a:t>
            </a:r>
          </a:p>
          <a:p>
            <a:r>
              <a:t>CÂU HỎI HỘI ĐỒNG DỰ KIẾN: Tại sao không áp dụng thuần túy Agile Scrum từ đầu đến cuối?</a:t>
            </a:r>
          </a:p>
          <a:p>
            <a:r>
              <a:t>CÂU TRẢ LỜI AN TOÀN: Đối với hệ thống doanh nghiệp phức tạp có ràng buộc CSDL lớn, việc thay đổi cấu trúc bảng liên tục sẽ phá vỡ tính toàn vẹn; do đó việc chốt kiến trúc trước (Predictive) giúp giảm thiểu tối đa chi phí làm lại (Rework).</a:t>
            </a:r>
          </a:p>
          <a:p>
            <a:r>
              <a:t>GỢI Ý CHUYỂN SLIDE / DEMO: Tiếp theo, bạn Nguyễn Văn Cường sẽ trình bày về quản trị phạm vi và cấu trúc WBS.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Khẳng định ranh giới phạm vi rõ ràng, minh bạch những phần trong và ngoài dự án.</a:t>
            </a:r>
          </a:p>
          <a:p/>
          <a:p>
            <a:r>
              <a:t>LỜI THUYẾT MINH GỢI Ý:</a:t>
            </a:r>
          </a:p>
          <a:p>
            <a:r>
              <a:t>Một nguyên nhân phổ biến khiến các dự án CNTT thất bại là hiện tượng phình phạm vi (Scope Creep). Nhóm đã thiết lập bản Tuyên bố phạm vi SOW rõ ràng: tập trung giải quyết xuất sắc 5 phân hệ cốt lõi và loại trừ dứt khoát các yếu tố không bắt buộc như cổng thanh toán hay cụm máy chủ đám mây đắt đỏ.</a:t>
            </a:r>
          </a:p>
          <a:p/>
          <a:p>
            <a:r>
              <a:t>THỜI LƯỢNG DỰ KIẾN: 55 giây (~0.9 phút) (PROJECT_PROPOSAL)</a:t>
            </a:r>
          </a:p>
          <a:p>
            <a:r>
              <a:t>NGƯỜI THUYẾT TRÌNH: Nguyễn Văn Cường (BIT240048) (PROPOSED_ASSIGNMENT_PENDING_USER_APPROVAL)</a:t>
            </a:r>
          </a:p>
          <a:p>
            <a:r>
              <a:t>CĂN CỨ MINH CHỨNG: Chương 2.1 Báo cáo Quản lý dự án CNTT</a:t>
            </a:r>
          </a:p>
          <a:p>
            <a:r>
              <a:t>CÂU HỎI HỘI ĐỒNG DỰ KIẾN: Làm thế nào để xử lý nếu có yêu cầu phát sinh thêm tính năng từ giảng viên?</a:t>
            </a:r>
          </a:p>
          <a:p>
            <a:r>
              <a:t>CÂU TRẢ LỜI AN TOÀN: Nhóm áp dụng quy trình kiểm soát thay đổi (Change Control Process): đánh giá tác động tới tiến độ và nguồn lực trước khi đưa vào backlog giai đoạn sau.</a:t>
            </a:r>
          </a:p>
          <a:p>
            <a:r>
              <a:t>GỢI Ý CHUYỂN SLIDE / DEMO: Từ phạm vi trên, nhóm đã phân rã thành cây công việc WBS như thế nào?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Trình bày cấu trúc phân rã công việc 3 cấp độ chuẩn mực PMBOK.</a:t>
            </a:r>
          </a:p>
          <a:p/>
          <a:p>
            <a:r>
              <a:t>LỜI THUYẾT MINH GỢI Ý:</a:t>
            </a:r>
          </a:p>
          <a:p>
            <a:r>
              <a:t>Sơ đồ WBS trên thể hiện sự phân rã có hệ thống từ cấp độ dự án tổng thể xuống 14 gói công việc cụ thể ở cấp 3. Mỗi gói công việc đều được định nghĩa rõ ràng trong Từ điển WBS với các sản phẩm bàn giao định lượng.</a:t>
            </a:r>
          </a:p>
          <a:p/>
          <a:p>
            <a:r>
              <a:t>THỜI LƯỢNG DỰ KIẾN: 70 giây (~1.2 phút) (PROJECT_PROPOSAL)</a:t>
            </a:r>
          </a:p>
          <a:p>
            <a:r>
              <a:t>NGƯỜI THUYẾT TRÌNH: Nguyễn Văn Cường (BIT240048) (PROPOSED_ASSIGNMENT_PENDING_USER_APPROVAL)</a:t>
            </a:r>
          </a:p>
          <a:p>
            <a:r>
              <a:t>CĂN CỨ MINH CHỨNG: reports/stage20/it-project-management/diagrams/fig_wbs_hierarchy.png</a:t>
            </a:r>
          </a:p>
          <a:p>
            <a:r>
              <a:t>CÂU HỎI HỘI ĐỒNG DỰ KIẾN: Thế nào là nguyên tắc 100% trong WBS?</a:t>
            </a:r>
          </a:p>
          <a:p>
            <a:r>
              <a:t>CÂU TRẢ LỜI AN TOÀN: Nguyên tắc 100% khẳng định WBS bao gồm 100% phạm vi công việc đã cam kết trong dự án, không thiếu sót bất kỳ phần nào và cũng không chứa công việc ngoài phạm vi.</a:t>
            </a:r>
          </a:p>
          <a:p>
            <a:r>
              <a:t>GỢI Ý CHUYỂN SLIDE / DEMO: Tiếp theo, nhóm trưởng Nguyễn Minh Hiếu sẽ trình bày mô hình ước lượng thời gian PERT và tiến độ CPM.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Trình bày phương pháp luận ước lượng PERT và xác định đường găng Critical Path 51 ngày.</a:t>
            </a:r>
          </a:p>
          <a:p/>
          <a:p>
            <a:r>
              <a:t>LỜI THUYẾT MINH GỢI Ý:</a:t>
            </a:r>
          </a:p>
          <a:p>
            <a:r>
              <a:t>Để lập kế hoạch tiến độ khoa học, nhóm áp dụng công thức ước lượng 3 điểm PERT với các kịch bản Lạc quan, Khả dĩ nhất và Bi quan. Thông qua giải thuật CPM, nhóm đã tìm ra Đường găng gồm chuỗi công việc từ Điều lệ, SRS đến Backend và Nghiệm thu với tổng độ dài 51 ngày làm việc.</a:t>
            </a:r>
          </a:p>
          <a:p/>
          <a:p>
            <a:r>
              <a:t>THỜI LƯỢNG DỰ KIẾN: 80 giây (~1.3 phút) (PROJECT_PROPOSAL)</a:t>
            </a:r>
          </a:p>
          <a:p>
            <a:r>
              <a:t>NGƯỜI THUYẾT TRÌNH: Nguyễn Minh Hiếu (BIT247729) (PROPOSED_ASSIGNMENT_PENDING_USER_APPROVAL)</a:t>
            </a:r>
          </a:p>
          <a:p>
            <a:r>
              <a:t>CĂN CỨ MINH CHỨNG: reports/stage20/it-project-management/diagrams/fig_pdm_cpm_network.png</a:t>
            </a:r>
          </a:p>
          <a:p>
            <a:r>
              <a:t>CÂU HỎI HỘI ĐỒNG DỰ KIẾN: Thời gian dự trữ (Total Float) là gì và các công việc không nằm trên đường găng có thời gian dự trữ là bao nhiêu?</a:t>
            </a:r>
          </a:p>
          <a:p>
            <a:r>
              <a:t>CÂU TRẢ LỜI AN TOÀN: Total Float là khoảng thời gian một công việc có thể bị chậm trễ mà không ảnh hưởng đến ngày kết thúc dự án. Các công việc như Cài đặt hạ tầng hoặc Tài liệu có thời gian dự trữ từ 2 đến 5 ngày.</a:t>
            </a:r>
          </a:p>
          <a:p>
            <a:r>
              <a:t>GỢI Ý CHUYỂN SLIDE / DEMO: Tiến độ này được thể hiện trực quan trên Biểu đồ Gantt như thế nào?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Trình chiếu biểu đồ Gantt Chart trực quan hóa toàn bộ tiến độ 14 gói công việc.</a:t>
            </a:r>
          </a:p>
          <a:p/>
          <a:p>
            <a:r>
              <a:t>LỜI THUYẾT MINH GỢI Ý:</a:t>
            </a:r>
          </a:p>
          <a:p>
            <a:r>
              <a:t>Biểu đồ Gantt trên màn hình được kết xuất trực tiếp từ mô hình tính toán tiến độ. Các vạch màu đỏ đại diện cho các gói công việc thuộc đường găng, đòi hỏi sự theo dõi sát sao của Quản lý dự án để đảm bảo cán đích đúng hạn.</a:t>
            </a:r>
          </a:p>
          <a:p/>
          <a:p>
            <a:r>
              <a:t>THỜI LƯỢNG DỰ KIẾN: 75 giây (~1.2 phút) (PROJECT_PROPOSAL)</a:t>
            </a:r>
          </a:p>
          <a:p>
            <a:r>
              <a:t>NGƯỜI THUYẾT TRÌNH: Nguyễn Minh Hiếu (BIT247729) (PROPOSED_ASSIGNMENT_PENDING_USER_APPROVAL)</a:t>
            </a:r>
          </a:p>
          <a:p>
            <a:r>
              <a:t>CĂN CỨ MINH CHỨNG: reports/stage20/it-project-management/diagrams/fig_gantt_chart.png</a:t>
            </a:r>
          </a:p>
          <a:p>
            <a:r>
              <a:t>CÂU HỎI HỘI ĐỒNG DỰ KIẾN: Nếu Backend Core bị chậm 3 ngày thì Quản lý dự án phải làm gì?</a:t>
            </a:r>
          </a:p>
          <a:p>
            <a:r>
              <a:t>CÂU TRẢ LỜI AN TOÀN: Vì Backend nằm trên đường găng, nếu bị chậm 3 ngày thì toàn bộ dự án sẽ chậm 3 ngày; Quản lý dự án phải áp dụng kỹ thuật Crashing (bổ sung nhân lực) hoặc Fast-tracking (cho Mobile làm giao diện song song với dữ liệu mock).</a:t>
            </a:r>
          </a:p>
          <a:p>
            <a:r>
              <a:t>GỢI Ý CHUYỂN SLIDE / DEMO: Tiếp theo, bạn Hoàng Bảo Long sẽ trình bày về tổ chức nhân sự và ma trận RACI.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Trình bày ma trận phân quyền trách nhiệm RACI minh bạch cho 4 thành viên.</a:t>
            </a:r>
          </a:p>
          <a:p/>
          <a:p>
            <a:r>
              <a:t>LỜI THUYẾT MINH GỢI Ý:</a:t>
            </a:r>
          </a:p>
          <a:p>
            <a:r>
              <a:t>Để nhóm vận hành hiệu quả và không dẫm chân lên nhau, nhóm áp dụng ma trận RACI. Nguyên tắc cốt lõi là trên mỗi gói công việc chỉ có duy nhất một người giữ vai trò Accountable chịu trách nhiệm cao nhất về chất lượng đầu ra.</a:t>
            </a:r>
          </a:p>
          <a:p/>
          <a:p>
            <a:r>
              <a:t>THỜI LƯỢNG DỰ KIẾN: 65 giây (~1.1 phút) (PROJECT_PROPOSAL)</a:t>
            </a:r>
          </a:p>
          <a:p>
            <a:r>
              <a:t>NGƯỜI THUYẾT TRÌNH: Hoàng Bảo Long (BIT240142) (PROPOSED_ASSIGNMENT_PENDING_USER_APPROVAL)</a:t>
            </a:r>
          </a:p>
          <a:p>
            <a:r>
              <a:t>CĂN CỨ MINH CHỨNG: Chương 4.1 Báo cáo Quản lý dự án CNTT</a:t>
            </a:r>
          </a:p>
          <a:p>
            <a:r>
              <a:t>CÂU HỎI HỘI ĐỒNG DỰ KIẾN: Nếu hai người cùng giữ vai trò Accountable cho một công việc thì có sao không?</a:t>
            </a:r>
          </a:p>
          <a:p>
            <a:r>
              <a:t>CÂU TRẢ LỜI AN TOÀN: Trong lý thuyết quản trị PMBOK, việc có hai chữ A cho một công việc là điều tối kỵ vì sẽ dẫn đến tranh chấp quyền quyết định hoặc đùn đẩy trách nhiệm khi xảy ra sự cố.</a:t>
            </a:r>
          </a:p>
          <a:p>
            <a:r>
              <a:t>GỢI Ý CHUYỂN SLIDE / DEMO: Nguồn lực nhân sự được cân bằng như thế nào để tránh tình trạng quá tải?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Trình bày giải thuật cân bằng nguồn lực bằng biểu đồ phân bổ tải Workload Histogram.</a:t>
            </a:r>
          </a:p>
          <a:p/>
          <a:p>
            <a:r>
              <a:t>LỜI THUYẾT MINH GỢI Ý:</a:t>
            </a:r>
          </a:p>
          <a:p>
            <a:r>
              <a:t>Biểu đồ phân bổ tải nhân sự chứng minh tính khả thi của kế hoạch. Nhóm đã chủ động phát hiện điểm nghẽn quá tải ở giai đoạn giữa dự án và sử dụng thời gian dự trữ để điều phối lại, bảo đảm không ai phải làm việc quá 8 giờ một ngày.</a:t>
            </a:r>
          </a:p>
          <a:p/>
          <a:p>
            <a:r>
              <a:t>THỜI LƯỢNG DỰ KIẾN: 70 giây (~1.2 phút) (PROJECT_PROPOSAL)</a:t>
            </a:r>
          </a:p>
          <a:p>
            <a:r>
              <a:t>NGƯỜI THUYẾT TRÌNH: Hoàng Bảo Long (BIT240142) (PROPOSED_ASSIGNMENT_PENDING_USER_APPROVAL)</a:t>
            </a:r>
          </a:p>
          <a:p>
            <a:r>
              <a:t>CĂN CỨ MINH CHỨNG: reports/stage20/it-project-management/diagrams/fig_workload_histogram.png</a:t>
            </a:r>
          </a:p>
          <a:p>
            <a:r>
              <a:t>CÂU HỎI HỘI ĐỒNG DỰ KIẾN: Resource Leveling có làm kéo dài thời gian kết thúc của dự án không?</a:t>
            </a:r>
          </a:p>
          <a:p>
            <a:r>
              <a:t>CÂU TRẢ LỜI AN TOÀN: Nếu chúng ta điều phối các công việc có thời gian dự trữ (Float) thì ngày kết thúc dự án không đổi; chỉ khi điều phối công việc trên đường găng thì dự án mới bị kéo dài.</a:t>
            </a:r>
          </a:p>
          <a:p>
            <a:r>
              <a:t>GỢI Ý CHUYỂN SLIDE / DEMO: Tiếp theo, bạn Vũ Thị Thu Hướng sẽ trình bày về quản trị rủi ro và chất lượng dự án.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Trình bày phương pháp nhận diện rủi ro chủ động và quy trình bảo đảm chất lượng nghiêm ngặt.</a:t>
            </a:r>
          </a:p>
          <a:p/>
          <a:p>
            <a:r>
              <a:t>LỜI THUYẾT MINH GỢI Ý:</a:t>
            </a:r>
          </a:p>
          <a:p>
            <a:r>
              <a:t>Quản trị dự án chuyên nghiệp đòi hỏi phải dự báo trước rủi ro thay vì bị động chữa cháy. Nhóm đã xây dựng Sổ đăng ký rủi ro và các cổng kiểm soát chất lượng tự động hóa, bảo đảm sản phẩm hoàn thiện với độ ổn định cao nhất.</a:t>
            </a:r>
          </a:p>
          <a:p/>
          <a:p>
            <a:r>
              <a:t>THỜI LƯỢNG DỰ KIẾN: 60 giây (~1.0 phút) (PROJECT_PROPOSAL)</a:t>
            </a:r>
          </a:p>
          <a:p>
            <a:r>
              <a:t>NGƯỜI THUYẾT TRÌNH: Vũ Thị Thu Hướng (BIT240113) (PROPOSED_ASSIGNMENT_PENDING_USER_APPROVAL)</a:t>
            </a:r>
          </a:p>
          <a:p>
            <a:r>
              <a:t>CĂN CỨ MINH CHỨNG: Chương 5 Báo cáo Quản lý dự án CNTT</a:t>
            </a:r>
          </a:p>
          <a:p>
            <a:r>
              <a:t>CÂU HỎI HỘI ĐỒNG DỰ KIẾN: Rủi ro lớn nhất mà nhóm đã thực sự gặp phải trong quá trình làm là gì?</a:t>
            </a:r>
          </a:p>
          <a:p>
            <a:r>
              <a:t>CÂU TRẢ LỜI AN TOÀN: Rủi ro lớn nhất là xung đột giữa các thay đổi Flyway SQL của các thành viên; nhóm đã giải quyết bằng cách quy định số thứ tự migration tập trung và kiểm tra tự động trên GitHub Actions.</a:t>
            </a:r>
          </a:p>
          <a:p>
            <a:r>
              <a:t>GỢI Ý CHUYỂN SLIDE / DEMO: Tiếp theo, nhóm trưởng Nguyễn Minh Hiếu sẽ tổng kết hiện trạng dự án và công bố thông tin bắt buộc.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Khẳng định thành quả học thuật và công bố thông tin minh bạch theo đúng quy tắc kiểm toán.</a:t>
            </a:r>
          </a:p>
          <a:p/>
          <a:p>
            <a:r>
              <a:t>LỜI THUYẾT MINH GỢI Ý:</a:t>
            </a:r>
          </a:p>
          <a:p>
            <a:r>
              <a:t>Nhóm xin công bố thông tin minh bạch: Toàn bộ tiến độ và công nhật được xây dựng theo mô hình phương pháp luận PMBOK chuẩn xác. Các biên bản họp nhóm và tỷ lệ đóng góp được giữ nguyên trạng thái đề xuất chờ sự phê duyệt chính thức của Hội đồng.</a:t>
            </a:r>
          </a:p>
          <a:p/>
          <a:p>
            <a:r>
              <a:t>THỜI LƯỢNG DỰ KIẾN: 65 giây (~1.1 phút) (PROJECT_PROPOSAL)</a:t>
            </a:r>
          </a:p>
          <a:p>
            <a:r>
              <a:t>NGƯỜI THUYẾT TRÌNH: Nguyễn Minh Hiếu (BIT247729) (PROPOSED_ASSIGNMENT_PENDING_USER_APPROVAL)</a:t>
            </a:r>
          </a:p>
          <a:p>
            <a:r>
              <a:t>CĂN CỨ MINH CHỨNG: reports/stage20/it-project-management/WORKSPHERE_PROJECT_MANAGEMENT_CALCULATIONS.xlsx</a:t>
            </a:r>
          </a:p>
          <a:p>
            <a:r>
              <a:t>CÂU HỎI HỘI ĐỒNG DỰ KIẾN: Tại sao nhóm không đưa biên bản họp đã ký vào slide?</a:t>
            </a:r>
          </a:p>
          <a:p>
            <a:r>
              <a:t>CÂU TRẢ LỜI AN TOÀN: Để bảo đảm tính trung thực tuyệt đối trong học thuật, nhóm không tự ý giả mạo chữ ký hay bịa đặt nhật ký khi chưa có buổi họp nghiệm thu chính thức với đầy đủ thành viên.</a:t>
            </a:r>
          </a:p>
          <a:p>
            <a:r>
              <a:t>GỢI Ý CHUYỂN SLIDE / DEMO: Cuối cùng, nhóm xin chuyển sang phần hỏi đáp cùng Hội đồng chấm thi.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Kết thúc bài thuyết trình quản lý dự án chuyên nghiệp và mời Hội đồng đặt câu hỏi.</a:t>
            </a:r>
          </a:p>
          <a:p/>
          <a:p>
            <a:r>
              <a:t>LỜI THUYẾT MINH GỢI Ý:</a:t>
            </a:r>
          </a:p>
          <a:p>
            <a:r>
              <a:t>Bài báo cáo học phần Quản lý dự án Công nghệ thông tin của nhóm xin được kết thúc tại đây. Nhóm chúng em đã sẵn sàng mở tệp bảng tính Excel và các sơ đồ kỹ thuật để đối soát theo yêu cầu của quý thầy cô.</a:t>
            </a:r>
          </a:p>
          <a:p/>
          <a:p>
            <a:r>
              <a:t>THỜI LƯỢNG DỰ KIẾN: 30 giây (~0.5 phút) (PROJECT_PROPOSAL)</a:t>
            </a:r>
          </a:p>
          <a:p>
            <a:r>
              <a:t>NGƯỜI THUYẾT TRÌNH: Toàn thể thành viên nhóm (PROPOSED_ASSIGNMENT_PENDING_USER_APPROVAL)</a:t>
            </a:r>
          </a:p>
          <a:p>
            <a:r>
              <a:t>CĂN CỨ MINH CHỨNG: Hồ sơ dự án tại reports/stage20/it-project-management/</a:t>
            </a:r>
          </a:p>
          <a:p>
            <a:r>
              <a:t>CÂU HỎI HỘI ĐỒNG DỰ KIẾN: Hội đồng yêu cầu mở tệp Excel để kiểm tra công thức tính đường găng CPM.</a:t>
            </a:r>
          </a:p>
          <a:p>
            <a:r>
              <a:t>CÂU TRẢ LỜI AN TOÀN: Dạ vâng, em xin phép mở tệp WORKSPHERE_PROJECT_MANAGEMENT_CALCULATIONS.xlsx để đối soát các công thức tính Early Start, Early Finish và Slack.</a:t>
            </a:r>
          </a:p>
          <a:p>
            <a:r>
              <a:t>GỢI Ý CHUYỂN SLIDE / DEMO: Sẵn sàng trả lời câu hỏi và mở bảng tính.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62895" cy="548640"/>
          </a:xfrm>
          <a:prstGeom prst="rect">
            <a:avLst/>
          </a:prstGeom>
          <a:noFill/>
        </p:spPr>
        <p:txBody>
          <a:bodyPr wrap="none">
            <a:spAutoFit/>
          </a:bodyPr>
          <a:lstStyle/>
          <a:p>
            <a:pPr>
              <a:defRPr sz="1300" b="1">
                <a:solidFill>
                  <a:srgbClr val="1E88E5"/>
                </a:solidFill>
                <a:latin typeface="Arial"/>
              </a:defRPr>
            </a:pPr>
            <a:r>
              <a:t>TRƯỜNG ĐẠI HỌC CMC • KHOA CÔNG NGHỆ THÔNG TIN &amp; TRUYỀN THÔNG</a:t>
            </a:r>
          </a:p>
        </p:txBody>
      </p:sp>
      <p:sp>
        <p:nvSpPr>
          <p:cNvPr id="4" name="TextBox 3"/>
          <p:cNvSpPr txBox="1"/>
          <p:nvPr/>
        </p:nvSpPr>
        <p:spPr>
          <a:xfrm>
            <a:off x="914400" y="1371600"/>
            <a:ext cx="10362895" cy="548640"/>
          </a:xfrm>
          <a:prstGeom prst="rect">
            <a:avLst/>
          </a:prstGeom>
          <a:noFill/>
        </p:spPr>
        <p:txBody>
          <a:bodyPr wrap="none">
            <a:spAutoFit/>
          </a:bodyPr>
          <a:lstStyle/>
          <a:p>
            <a:pPr>
              <a:defRPr sz="1500" b="1">
                <a:solidFill>
                  <a:srgbClr val="80D8FF"/>
                </a:solidFill>
                <a:latin typeface="Arial"/>
              </a:defRPr>
            </a:pPr>
            <a:r>
              <a:t>BÁO CÁO BẢO VỆ HỌC PHẦN: QUẢN LÝ DỰ ÁN CÔNG NGHỆ THÔNG TIN</a:t>
            </a:r>
          </a:p>
        </p:txBody>
      </p:sp>
      <p:sp>
        <p:nvSpPr>
          <p:cNvPr id="5" name="TextBox 4"/>
          <p:cNvSpPr txBox="1"/>
          <p:nvPr/>
        </p:nvSpPr>
        <p:spPr>
          <a:xfrm>
            <a:off x="914400" y="2011680"/>
            <a:ext cx="10362895" cy="1463040"/>
          </a:xfrm>
          <a:prstGeom prst="rect">
            <a:avLst/>
          </a:prstGeom>
          <a:noFill/>
        </p:spPr>
        <p:txBody>
          <a:bodyPr wrap="square">
            <a:spAutoFit/>
          </a:bodyPr>
          <a:lstStyle/>
          <a:p>
            <a:pPr>
              <a:defRPr sz="3200" b="1">
                <a:solidFill>
                  <a:srgbClr val="FFFFFF"/>
                </a:solidFill>
                <a:latin typeface="Arial"/>
              </a:defRPr>
            </a:pPr>
            <a:r>
              <a:t>KẾ HOẠCH QUẢN LÝ DỰ ÁN PHẦN MỀM WORKSPHERE</a:t>
            </a:r>
            <a:br/>
            <a:r>
              <a:t>THEO CHUẨN MỰC PMBOK &amp; MÔ HÌNH THỰC NGHIỆM</a:t>
            </a:r>
          </a:p>
          <a:p>
            <a:pPr>
              <a:spcBef>
                <a:spcPts val="800"/>
              </a:spcBef>
              <a:defRPr sz="1700">
                <a:solidFill>
                  <a:srgbClr val="CFD8DC"/>
                </a:solidFill>
                <a:latin typeface="Arial"/>
              </a:defRPr>
            </a:pPr>
            <a:r>
              <a:t>Hồ sơ Lập Kế Hoạch, Phân Bổ Tiến Độ, Tối Ưu Nguồn Lực và Quản Trị Rủi Ro</a:t>
            </a:r>
          </a:p>
        </p:txBody>
      </p:sp>
      <p:sp>
        <p:nvSpPr>
          <p:cNvPr id="6" name="TextBox 5"/>
          <p:cNvSpPr txBox="1"/>
          <p:nvPr/>
        </p:nvSpPr>
        <p:spPr>
          <a:xfrm>
            <a:off x="914400" y="4114800"/>
            <a:ext cx="10362895" cy="1828800"/>
          </a:xfrm>
          <a:prstGeom prst="rect">
            <a:avLst/>
          </a:prstGeom>
          <a:noFill/>
        </p:spPr>
        <p:txBody>
          <a:bodyPr wrap="none">
            <a:spAutoFit/>
          </a:bodyPr>
          <a:lstStyle/>
          <a:p>
            <a:pPr>
              <a:defRPr sz="1200" b="1">
                <a:solidFill>
                  <a:srgbClr val="80D8FF"/>
                </a:solidFill>
                <a:latin typeface="Arial"/>
              </a:defRPr>
            </a:pPr>
            <a:r>
              <a:t>NHÓM SINH VIÊN THỰC HIỆN (Học kỳ Fall 2026):</a:t>
            </a:r>
          </a:p>
          <a:p>
            <a:pPr>
              <a:spcBef>
                <a:spcPts val="200"/>
              </a:spcBef>
              <a:defRPr sz="1150">
                <a:solidFill>
                  <a:srgbClr val="FFFFFF"/>
                </a:solidFill>
                <a:latin typeface="Arial"/>
              </a:defRPr>
            </a:pPr>
            <a:r>
              <a:t>• Nguyễn Minh Hiếu (BIT247729) — Nhóm trưởng (Project Charter, Schedule, CPM, Lead)</a:t>
            </a:r>
          </a:p>
          <a:p>
            <a:pPr>
              <a:spcBef>
                <a:spcPts val="200"/>
              </a:spcBef>
              <a:defRPr sz="1150">
                <a:solidFill>
                  <a:srgbClr val="FFFFFF"/>
                </a:solidFill>
                <a:latin typeface="Arial"/>
              </a:defRPr>
            </a:pPr>
            <a:r>
              <a:t>• Nguyễn Văn Cường (BIT240048) — Thành viên (Scope Management, WBS, WBS Dictionary)</a:t>
            </a:r>
          </a:p>
          <a:p>
            <a:pPr>
              <a:spcBef>
                <a:spcPts val="200"/>
              </a:spcBef>
              <a:defRPr sz="1150">
                <a:solidFill>
                  <a:srgbClr val="FFFFFF"/>
                </a:solidFill>
                <a:latin typeface="Arial"/>
              </a:defRPr>
            </a:pPr>
            <a:r>
              <a:t>• Vũ Thị Thu Hướng (BIT240113) — Thành viên (Quality Management, Testing Plan, Acceptance)</a:t>
            </a:r>
          </a:p>
          <a:p>
            <a:pPr>
              <a:spcBef>
                <a:spcPts val="200"/>
              </a:spcBef>
              <a:defRPr sz="1150">
                <a:solidFill>
                  <a:srgbClr val="FFFFFF"/>
                </a:solidFill>
                <a:latin typeface="Arial"/>
              </a:defRPr>
            </a:pPr>
            <a:r>
              <a:t>• Hoàng Bảo Long (BIT240142) — Thành viên (Human Resources, RACI Matrix, Workload Leveling)</a:t>
            </a:r>
          </a:p>
          <a:p>
            <a:pPr>
              <a:spcBef>
                <a:spcPts val="400"/>
              </a:spcBef>
              <a:defRPr sz="950" i="1">
                <a:solidFill>
                  <a:srgbClr val="B0BEC5"/>
                </a:solidFill>
                <a:latin typeface="Arial"/>
              </a:defRPr>
            </a:pPr>
            <a:r>
              <a:t>*(Trạng thái phân công: PROPOSED_ASSIGNMENT_PENDING_USER_APPROVAL — Chờ phê duyệt chính thức)*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IT PROJECT MANAGEMENT • KHỞI TẠO DỰ ÁN</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Điều Lệ Dự Án (Project Charter) &amp; Mục Tiêu Chiến Lược</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Quản Lý Dự Án Công Nghệ Thông Tin — Trang 2/12</a:t>
            </a:r>
          </a:p>
        </p:txBody>
      </p:sp>
      <p:sp>
        <p:nvSpPr>
          <p:cNvPr id="5" name="Rounded Rectangle 4"/>
          <p:cNvSpPr/>
          <p:nvPr/>
        </p:nvSpPr>
        <p:spPr>
          <a:xfrm>
            <a:off x="7315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Thông Tin Điều Lệ Dự Án</a:t>
            </a:r>
          </a:p>
          <a:p>
            <a:pPr>
              <a:lnSpc>
                <a:spcPct val="115000"/>
              </a:lnSpc>
              <a:spcAft>
                <a:spcPts val="400"/>
              </a:spcAft>
              <a:defRPr sz="1200">
                <a:solidFill>
                  <a:srgbClr val="212121"/>
                </a:solidFill>
                <a:latin typeface="Arial"/>
              </a:defRPr>
            </a:pPr>
            <a:r>
              <a:t>• Tên dự án: Hệ thống quản trị công việc và tài sản số WorkSphere.</a:t>
            </a:r>
          </a:p>
          <a:p>
            <a:pPr>
              <a:lnSpc>
                <a:spcPct val="115000"/>
              </a:lnSpc>
              <a:spcAft>
                <a:spcPts val="400"/>
              </a:spcAft>
              <a:defRPr sz="1200">
                <a:solidFill>
                  <a:srgbClr val="212121"/>
                </a:solidFill>
                <a:latin typeface="Arial"/>
              </a:defRPr>
            </a:pPr>
            <a:r>
              <a:t>• Nhà tài trợ (Sponsor): Ban Giám hiệu &amp; Khoa CNTT &amp; TT — Trường Đại học CMC.</a:t>
            </a:r>
          </a:p>
          <a:p>
            <a:pPr>
              <a:lnSpc>
                <a:spcPct val="115000"/>
              </a:lnSpc>
              <a:spcAft>
                <a:spcPts val="400"/>
              </a:spcAft>
              <a:defRPr sz="1200">
                <a:solidFill>
                  <a:srgbClr val="212121"/>
                </a:solidFill>
                <a:latin typeface="Arial"/>
              </a:defRPr>
            </a:pPr>
            <a:r>
              <a:t>• Giám đốc dự án (Project Manager): Nguyễn Minh Hiếu (BIT247729).</a:t>
            </a:r>
          </a:p>
          <a:p>
            <a:pPr>
              <a:lnSpc>
                <a:spcPct val="115000"/>
              </a:lnSpc>
              <a:spcAft>
                <a:spcPts val="400"/>
              </a:spcAft>
              <a:defRPr sz="1200">
                <a:solidFill>
                  <a:srgbClr val="212121"/>
                </a:solidFill>
                <a:latin typeface="Arial"/>
              </a:defRPr>
            </a:pPr>
            <a:r>
              <a:t>• Thời gian thực hiện kế hoạch: 51 ngày làm việc (tương đương ~11 tuần làm việc).</a:t>
            </a:r>
          </a:p>
          <a:p>
            <a:pPr>
              <a:lnSpc>
                <a:spcPct val="115000"/>
              </a:lnSpc>
              <a:spcAft>
                <a:spcPts val="400"/>
              </a:spcAft>
              <a:defRPr sz="1200">
                <a:solidFill>
                  <a:srgbClr val="212121"/>
                </a:solidFill>
                <a:latin typeface="Arial"/>
              </a:defRPr>
            </a:pPr>
            <a:r>
              <a:t>• Ranh giới ngân sách: Giới hạn trong khuôn khổ học thuật và hạ tầng phát triển cục bộ.</a:t>
            </a:r>
          </a:p>
        </p:txBody>
      </p:sp>
      <p:sp>
        <p:nvSpPr>
          <p:cNvPr id="6" name="Rounded Rectangle 5"/>
          <p:cNvSpPr/>
          <p:nvPr/>
        </p:nvSpPr>
        <p:spPr>
          <a:xfrm>
            <a:off x="6217920" y="1645920"/>
            <a:ext cx="5120640" cy="4389120"/>
          </a:xfrm>
          <a:prstGeom prst="roundRect">
            <a:avLst/>
          </a:prstGeom>
          <a:solidFill>
            <a:srgbClr val="F5F9FD"/>
          </a:solidFill>
          <a:ln w="19050">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Mục Tiêu SMART Của Dự Án</a:t>
            </a:r>
          </a:p>
          <a:p>
            <a:pPr>
              <a:lnSpc>
                <a:spcPct val="115000"/>
              </a:lnSpc>
              <a:spcAft>
                <a:spcPts val="400"/>
              </a:spcAft>
              <a:defRPr sz="1200">
                <a:solidFill>
                  <a:srgbClr val="212121"/>
                </a:solidFill>
                <a:latin typeface="Arial"/>
              </a:defRPr>
            </a:pPr>
            <a:r>
              <a:t>• Specific (Cụ thể): Xây dựng hoàn chỉnh nền tảng quản trị hợp nhất gồm 4 phân hệ chính: Dự án, Công việc, Yêu cầu và Tài sản.</a:t>
            </a:r>
          </a:p>
          <a:p>
            <a:pPr>
              <a:lnSpc>
                <a:spcPct val="115000"/>
              </a:lnSpc>
              <a:spcAft>
                <a:spcPts val="400"/>
              </a:spcAft>
              <a:defRPr sz="1200">
                <a:solidFill>
                  <a:srgbClr val="212121"/>
                </a:solidFill>
                <a:latin typeface="Arial"/>
              </a:defRPr>
            </a:pPr>
            <a:r>
              <a:t>• Measurable (Đo lường được): 100% vượt qua 351 test backend, 1,144 test mobile, 0 lỗi checkstyle.</a:t>
            </a:r>
          </a:p>
          <a:p>
            <a:pPr>
              <a:lnSpc>
                <a:spcPct val="115000"/>
              </a:lnSpc>
              <a:spcAft>
                <a:spcPts val="400"/>
              </a:spcAft>
              <a:defRPr sz="1200">
                <a:solidFill>
                  <a:srgbClr val="212121"/>
                </a:solidFill>
                <a:latin typeface="Arial"/>
              </a:defRPr>
            </a:pPr>
            <a:r>
              <a:t>• Achievable (Khả thi): Khai thác năng lực cốt lõi của 4 thành viên theo đúng chuyên môn kỹ thuật.</a:t>
            </a:r>
          </a:p>
          <a:p>
            <a:pPr>
              <a:lnSpc>
                <a:spcPct val="115000"/>
              </a:lnSpc>
              <a:spcAft>
                <a:spcPts val="400"/>
              </a:spcAft>
              <a:defRPr sz="1200">
                <a:solidFill>
                  <a:srgbClr val="212121"/>
                </a:solidFill>
                <a:latin typeface="Arial"/>
              </a:defRPr>
            </a:pPr>
            <a:r>
              <a:t>• Relevant (Thực tiễn): Giải quyết triệt để bài toán phân mảnh thông tin vận hành doanh nghiệp.</a:t>
            </a:r>
          </a:p>
          <a:p>
            <a:pPr>
              <a:lnSpc>
                <a:spcPct val="115000"/>
              </a:lnSpc>
              <a:spcAft>
                <a:spcPts val="400"/>
              </a:spcAft>
              <a:defRPr sz="1200">
                <a:solidFill>
                  <a:srgbClr val="212121"/>
                </a:solidFill>
                <a:latin typeface="Arial"/>
              </a:defRPr>
            </a:pPr>
            <a:r>
              <a:t>• Time-bound (Thời hạn rõ ràng): Bàn giao toàn bộ sản phẩm và tài liệu đúng mốc học kỳ Fall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IT PROJECT MANAGEMENT • CÁC BÊN LIÊN QUAN &amp; VÒNG ĐỜI</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Quản Trị Các Bên Liên Quan &amp; Vòng Đời Dự Án</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Quản Lý Dự Án Công Nghệ Thông Tin — Trang 3/12</a:t>
            </a:r>
          </a:p>
        </p:txBody>
      </p:sp>
      <p:sp>
        <p:nvSpPr>
          <p:cNvPr id="5" name="Rounded Rectangle 4"/>
          <p:cNvSpPr/>
          <p:nvPr/>
        </p:nvSpPr>
        <p:spPr>
          <a:xfrm>
            <a:off x="7315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Ma Trận Các Bên Liên Quan (Stakeholders)</a:t>
            </a:r>
          </a:p>
          <a:p>
            <a:pPr>
              <a:lnSpc>
                <a:spcPct val="115000"/>
              </a:lnSpc>
              <a:spcAft>
                <a:spcPts val="400"/>
              </a:spcAft>
              <a:defRPr sz="1200">
                <a:solidFill>
                  <a:srgbClr val="212121"/>
                </a:solidFill>
                <a:latin typeface="Arial"/>
              </a:defRPr>
            </a:pPr>
            <a:r>
              <a:t>• Nhóm Quyền hạn cao / Quan tâm cao (Manage Closely): Giảng viên hướng dẫn, Hội đồng chấm thi — Cần báo cáo tiến độ định kỳ hàng tuần.</a:t>
            </a:r>
          </a:p>
          <a:p>
            <a:pPr>
              <a:lnSpc>
                <a:spcPct val="115000"/>
              </a:lnSpc>
              <a:spcAft>
                <a:spcPts val="400"/>
              </a:spcAft>
              <a:defRPr sz="1200">
                <a:solidFill>
                  <a:srgbClr val="212121"/>
                </a:solidFill>
                <a:latin typeface="Arial"/>
              </a:defRPr>
            </a:pPr>
            <a:r>
              <a:t>• Nhóm Quyền hạn thấp / Quan tâm cao (Keep Informed): Cán bộ nhân viên, người dùng thử nghiệm — Cung cấp hướng dẫn sử dụng và ghi nhận phản hồi.</a:t>
            </a:r>
          </a:p>
          <a:p>
            <a:pPr>
              <a:lnSpc>
                <a:spcPct val="115000"/>
              </a:lnSpc>
              <a:spcAft>
                <a:spcPts val="400"/>
              </a:spcAft>
              <a:defRPr sz="1200">
                <a:solidFill>
                  <a:srgbClr val="212121"/>
                </a:solidFill>
                <a:latin typeface="Arial"/>
              </a:defRPr>
            </a:pPr>
            <a:r>
              <a:t>• Nhóm Quyền hạn cao / Quan tâm thấp (Keep Satisfied): Khoa CNTT, Phòng Đào tạo — Đảm bảo tuân thủ đầy đủ các quy chế và tiến độ học phần.</a:t>
            </a:r>
          </a:p>
          <a:p>
            <a:pPr>
              <a:lnSpc>
                <a:spcPct val="115000"/>
              </a:lnSpc>
              <a:spcAft>
                <a:spcPts val="400"/>
              </a:spcAft>
              <a:defRPr sz="1200">
                <a:solidFill>
                  <a:srgbClr val="212121"/>
                </a:solidFill>
                <a:latin typeface="Arial"/>
              </a:defRPr>
            </a:pPr>
            <a:r>
              <a:t>• Nhóm Quyền hạn thấp / Quan tâm thấp (Monitor): Các bên cung cấp hạ tầng công nghệ mở.</a:t>
            </a:r>
          </a:p>
        </p:txBody>
      </p:sp>
      <p:sp>
        <p:nvSpPr>
          <p:cNvPr id="6" name="Rounded Rectangle 5"/>
          <p:cNvSpPr/>
          <p:nvPr/>
        </p:nvSpPr>
        <p:spPr>
          <a:xfrm>
            <a:off x="62179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Vòng Đời Phát Triển Lai (Hybrid Lifecycle)</a:t>
            </a:r>
          </a:p>
          <a:p>
            <a:pPr>
              <a:lnSpc>
                <a:spcPct val="115000"/>
              </a:lnSpc>
              <a:spcAft>
                <a:spcPts val="400"/>
              </a:spcAft>
              <a:defRPr sz="1200">
                <a:solidFill>
                  <a:srgbClr val="212121"/>
                </a:solidFill>
                <a:latin typeface="Arial"/>
              </a:defRPr>
            </a:pPr>
            <a:r>
              <a:t>• Giai đoạn 1 - Khởi tạo &amp; Kế hoạch (Predictive / Waterfall): Khóa chặt tài liệu đặc tả yêu cầu (SRS) và thiết kế cơ sở dữ liệu để bảo đảm tính toàn vẹn kiến trúc.</a:t>
            </a:r>
          </a:p>
          <a:p>
            <a:pPr>
              <a:lnSpc>
                <a:spcPct val="115000"/>
              </a:lnSpc>
              <a:spcAft>
                <a:spcPts val="400"/>
              </a:spcAft>
              <a:defRPr sz="1200">
                <a:solidFill>
                  <a:srgbClr val="212121"/>
                </a:solidFill>
                <a:latin typeface="Arial"/>
              </a:defRPr>
            </a:pPr>
            <a:r>
              <a:t>• Giai đoạn 2 - Phát triển &amp; Kiểm thử (Iterative / Agile): Triển khai mã nguồn theo từng Sprint 2 tuần, tích hợp liên tục trên GitHub Actions.</a:t>
            </a:r>
          </a:p>
          <a:p>
            <a:pPr>
              <a:lnSpc>
                <a:spcPct val="115000"/>
              </a:lnSpc>
              <a:spcAft>
                <a:spcPts val="400"/>
              </a:spcAft>
              <a:defRPr sz="1200">
                <a:solidFill>
                  <a:srgbClr val="212121"/>
                </a:solidFill>
                <a:latin typeface="Arial"/>
              </a:defRPr>
            </a:pPr>
            <a:r>
              <a:t>• Giai đoạn 3 - Đóng gói &amp; Nghiệm thu (Controlled Gate): Diễn tập phục hồi dữ liệu, kiểm thẩm tài liệu trước khi bảo vệ trước Hội đồng.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IT PROJECT MANAGEMENT • RANH GIỚI PHẠM VI</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Quản Trị Phạm Vi Dự Án (Scope Management &amp; SOW)</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Quản Lý Dự Án Công Nghệ Thông Tin — Trang 4/12</a:t>
            </a:r>
          </a:p>
        </p:txBody>
      </p:sp>
      <p:sp>
        <p:nvSpPr>
          <p:cNvPr id="5" name="Rounded Rectangle 4"/>
          <p:cNvSpPr/>
          <p:nvPr/>
        </p:nvSpPr>
        <p:spPr>
          <a:xfrm>
            <a:off x="7315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Tuyên Bố Phạm Vi Công Việc (SOW)</a:t>
            </a:r>
          </a:p>
          <a:p>
            <a:pPr>
              <a:lnSpc>
                <a:spcPct val="115000"/>
              </a:lnSpc>
              <a:spcAft>
                <a:spcPts val="400"/>
              </a:spcAft>
              <a:defRPr sz="1200">
                <a:solidFill>
                  <a:srgbClr val="212121"/>
                </a:solidFill>
                <a:latin typeface="Arial"/>
              </a:defRPr>
            </a:pPr>
            <a:r>
              <a:t>• Phân hệ Quản trị người dùng &amp; Phân quyền (Identity &amp; Access Control): Đăng nhập, phân quyền 4 vai trò, kiểm soát phiên JWT.</a:t>
            </a:r>
          </a:p>
          <a:p>
            <a:pPr>
              <a:lnSpc>
                <a:spcPct val="115000"/>
              </a:lnSpc>
              <a:spcAft>
                <a:spcPts val="400"/>
              </a:spcAft>
              <a:defRPr sz="1200">
                <a:solidFill>
                  <a:srgbClr val="212121"/>
                </a:solidFill>
                <a:latin typeface="Arial"/>
              </a:defRPr>
            </a:pPr>
            <a:r>
              <a:t>• Phân hệ Quản lý Dự án &amp; Cột mốc (Project Management): Lập dự án, theo dõi tiến độ, quản lý thành viên và cột mốc.</a:t>
            </a:r>
          </a:p>
          <a:p>
            <a:pPr>
              <a:lnSpc>
                <a:spcPct val="115000"/>
              </a:lnSpc>
              <a:spcAft>
                <a:spcPts val="400"/>
              </a:spcAft>
              <a:defRPr sz="1200">
                <a:solidFill>
                  <a:srgbClr val="212121"/>
                </a:solidFill>
                <a:latin typeface="Arial"/>
              </a:defRPr>
            </a:pPr>
            <a:r>
              <a:t>• Phân hệ Quản trị Công việc (Task Management): Giao việc, chuyển đổi máy trạng thái, lọc công việc cá nhân.</a:t>
            </a:r>
          </a:p>
          <a:p>
            <a:pPr>
              <a:lnSpc>
                <a:spcPct val="115000"/>
              </a:lnSpc>
              <a:spcAft>
                <a:spcPts val="400"/>
              </a:spcAft>
              <a:defRPr sz="1200">
                <a:solidFill>
                  <a:srgbClr val="212121"/>
                </a:solidFill>
                <a:latin typeface="Arial"/>
              </a:defRPr>
            </a:pPr>
            <a:r>
              <a:t>• Phân hệ Phiếu dịch vụ (Service Request): Tạo yêu cầu, phê duyệt đa cấp và truy vết xử lý.</a:t>
            </a:r>
          </a:p>
          <a:p>
            <a:pPr>
              <a:lnSpc>
                <a:spcPct val="115000"/>
              </a:lnSpc>
              <a:spcAft>
                <a:spcPts val="400"/>
              </a:spcAft>
              <a:defRPr sz="1200">
                <a:solidFill>
                  <a:srgbClr val="212121"/>
                </a:solidFill>
                <a:latin typeface="Arial"/>
              </a:defRPr>
            </a:pPr>
            <a:r>
              <a:t>• Phân hệ Quản lý Tài sản (Asset Management): Quản lý vòng đời tài sản và cấp phát nội bộ.</a:t>
            </a:r>
          </a:p>
        </p:txBody>
      </p:sp>
      <p:sp>
        <p:nvSpPr>
          <p:cNvPr id="6" name="Rounded Rectangle 5"/>
          <p:cNvSpPr/>
          <p:nvPr/>
        </p:nvSpPr>
        <p:spPr>
          <a:xfrm>
            <a:off x="6217920" y="1645920"/>
            <a:ext cx="5120640" cy="4389120"/>
          </a:xfrm>
          <a:prstGeom prst="roundRect">
            <a:avLst/>
          </a:prstGeom>
          <a:solidFill>
            <a:srgbClr val="F5F9FD"/>
          </a:solidFill>
          <a:ln w="19050">
            <a:solidFill>
              <a:srgbClr val="D32F2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Ranh Giới Loại Trừ (Out of Scope)</a:t>
            </a:r>
          </a:p>
          <a:p>
            <a:pPr>
              <a:lnSpc>
                <a:spcPct val="115000"/>
              </a:lnSpc>
              <a:spcAft>
                <a:spcPts val="400"/>
              </a:spcAft>
              <a:defRPr sz="1200">
                <a:solidFill>
                  <a:srgbClr val="212121"/>
                </a:solidFill>
                <a:latin typeface="Arial"/>
              </a:defRPr>
            </a:pPr>
            <a:r>
              <a:t>• Tích hợp cổng thanh toán trực tuyến: Không thuộc phạm vi phần mềm điều hành nội bộ.</a:t>
            </a:r>
          </a:p>
          <a:p>
            <a:pPr>
              <a:lnSpc>
                <a:spcPct val="115000"/>
              </a:lnSpc>
              <a:spcAft>
                <a:spcPts val="400"/>
              </a:spcAft>
              <a:defRPr sz="1200">
                <a:solidFill>
                  <a:srgbClr val="212121"/>
                </a:solidFill>
                <a:latin typeface="Arial"/>
              </a:defRPr>
            </a:pPr>
            <a:r>
              <a:t>• Triển khai hạ tầng đám mây công cộng (AWS/GCP): Chỉ tập trung đóng gói container chạy cục bộ.</a:t>
            </a:r>
          </a:p>
          <a:p>
            <a:pPr>
              <a:lnSpc>
                <a:spcPct val="115000"/>
              </a:lnSpc>
              <a:spcAft>
                <a:spcPts val="400"/>
              </a:spcAft>
              <a:defRPr sz="1200">
                <a:solidFill>
                  <a:srgbClr val="212121"/>
                </a:solidFill>
                <a:latin typeface="Arial"/>
              </a:defRPr>
            </a:pPr>
            <a:r>
              <a:t>• Hỗ trợ hệ điều hành iOS native: Giới hạn kiểm nghiệm thực tế trên môi trường Android Emulator.</a:t>
            </a:r>
          </a:p>
          <a:p>
            <a:pPr>
              <a:lnSpc>
                <a:spcPct val="115000"/>
              </a:lnSpc>
              <a:spcAft>
                <a:spcPts val="400"/>
              </a:spcAft>
              <a:defRPr sz="1200">
                <a:solidFill>
                  <a:srgbClr val="212121"/>
                </a:solidFill>
                <a:latin typeface="Arial"/>
              </a:defRPr>
            </a:pPr>
            <a:r>
              <a:t>• Triển khai cụm Kubernetes thực tế: Giữ nguyên ở mức phân tích lý thuyết kiến trúc.</a:t>
            </a:r>
          </a:p>
          <a:p>
            <a:pPr>
              <a:lnSpc>
                <a:spcPct val="115000"/>
              </a:lnSpc>
              <a:spcAft>
                <a:spcPts val="400"/>
              </a:spcAft>
              <a:defRPr sz="1200">
                <a:solidFill>
                  <a:srgbClr val="212121"/>
                </a:solidFill>
                <a:latin typeface="Arial"/>
              </a:defRPr>
            </a:pPr>
            <a:r>
              <a:t>• Nguyên tắc: Quản trị phạm vi nghiêm ngặt giúp dự án không bị phình to (Scope Creep) và bảo đảm tiến độ bàn giao.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IT PROJECT MANAGEMENT • PHÂN RÃ CÔNG VIỆC</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Cấu Trúc Phân Rã Công Việc (Work Breakdown Structure - WBS)</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Quản Lý Dự Án Công Nghệ Thông Tin — Trang 5/12</a:t>
            </a:r>
          </a:p>
        </p:txBody>
      </p:sp>
      <p:pic>
        <p:nvPicPr>
          <p:cNvPr id="5" name="Picture 4" descr="fig_wbs_hierarchy.png"/>
          <p:cNvPicPr>
            <a:picLocks noChangeAspect="1"/>
          </p:cNvPicPr>
          <p:nvPr/>
        </p:nvPicPr>
        <p:blipFill>
          <a:blip r:embed="rId2"/>
          <a:stretch>
            <a:fillRect/>
          </a:stretch>
        </p:blipFill>
        <p:spPr>
          <a:xfrm>
            <a:off x="731520" y="1645920"/>
            <a:ext cx="6400800" cy="4389120"/>
          </a:xfrm>
          <a:prstGeom prst="rect">
            <a:avLst/>
          </a:prstGeom>
        </p:spPr>
      </p:pic>
      <p:sp>
        <p:nvSpPr>
          <p:cNvPr id="6" name="Rounded Rectangle 5"/>
          <p:cNvSpPr/>
          <p:nvPr/>
        </p:nvSpPr>
        <p:spPr>
          <a:xfrm>
            <a:off x="7315200" y="1645920"/>
            <a:ext cx="411480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Quy Chuẩn Phân Rã WBS</a:t>
            </a:r>
          </a:p>
          <a:p>
            <a:pPr>
              <a:lnSpc>
                <a:spcPct val="115000"/>
              </a:lnSpc>
              <a:spcAft>
                <a:spcPts val="400"/>
              </a:spcAft>
              <a:defRPr sz="1200">
                <a:solidFill>
                  <a:srgbClr val="212121"/>
                </a:solidFill>
                <a:latin typeface="Arial"/>
              </a:defRPr>
            </a:pPr>
            <a:r>
              <a:t>• Quy tắc 100%: Toàn bộ sản phẩm bàn giao của dự án được bao phủ trọn vẹn trong 14 gói công việc.</a:t>
            </a:r>
          </a:p>
          <a:p>
            <a:pPr>
              <a:lnSpc>
                <a:spcPct val="115000"/>
              </a:lnSpc>
              <a:spcAft>
                <a:spcPts val="400"/>
              </a:spcAft>
              <a:defRPr sz="1200">
                <a:solidFill>
                  <a:srgbClr val="212121"/>
                </a:solidFill>
                <a:latin typeface="Arial"/>
              </a:defRPr>
            </a:pPr>
            <a:r>
              <a:t>• 3 Cấp độ phân cấp: Cấp 1 (Dự án WorkSphere), Cấp 2 (Giai đoạn vòng đời), Cấp 3 (Gói công việc cụ thể).</a:t>
            </a:r>
          </a:p>
          <a:p>
            <a:pPr>
              <a:lnSpc>
                <a:spcPct val="115000"/>
              </a:lnSpc>
              <a:spcAft>
                <a:spcPts val="400"/>
              </a:spcAft>
              <a:defRPr sz="1200">
                <a:solidFill>
                  <a:srgbClr val="212121"/>
                </a:solidFill>
                <a:latin typeface="Arial"/>
              </a:defRPr>
            </a:pPr>
            <a:r>
              <a:t>• WBS Dictionary: Mỗi gói công việc đều có từ điển định nghĩa rõ đầu vào, đầu ra và tiêu chí hoàn thành.</a:t>
            </a:r>
          </a:p>
          <a:p>
            <a:pPr>
              <a:lnSpc>
                <a:spcPct val="115000"/>
              </a:lnSpc>
              <a:spcAft>
                <a:spcPts val="400"/>
              </a:spcAft>
              <a:defRPr sz="1200">
                <a:solidFill>
                  <a:srgbClr val="212121"/>
                </a:solidFill>
                <a:latin typeface="Arial"/>
              </a:defRPr>
            </a:pPr>
            <a:r>
              <a:t>• Tính độc lập: Các gói công việc không bị trùng lặp trách nhiệm hoặc ranh giới kỹ thuật.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IT PROJECT MANAGEMENT • MÔ HÌNH TIẾN ĐỘ</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Ước Lượng Tiến Độ PERT &amp; Sơ Đồ Mạng PDM / CPM</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Quản Lý Dự Án Công Nghệ Thông Tin — Trang 6/12</a:t>
            </a:r>
          </a:p>
        </p:txBody>
      </p:sp>
      <p:pic>
        <p:nvPicPr>
          <p:cNvPr id="5" name="Picture 4" descr="fig_pdm_cpm_network.png"/>
          <p:cNvPicPr>
            <a:picLocks noChangeAspect="1"/>
          </p:cNvPicPr>
          <p:nvPr/>
        </p:nvPicPr>
        <p:blipFill>
          <a:blip r:embed="rId2"/>
          <a:stretch>
            <a:fillRect/>
          </a:stretch>
        </p:blipFill>
        <p:spPr>
          <a:xfrm>
            <a:off x="731520" y="1645920"/>
            <a:ext cx="6217920" cy="4389120"/>
          </a:xfrm>
          <a:prstGeom prst="rect">
            <a:avLst/>
          </a:prstGeom>
        </p:spPr>
      </p:pic>
      <p:sp>
        <p:nvSpPr>
          <p:cNvPr id="6" name="Rounded Rectangle 5"/>
          <p:cNvSpPr/>
          <p:nvPr/>
        </p:nvSpPr>
        <p:spPr>
          <a:xfrm>
            <a:off x="7132320" y="1645920"/>
            <a:ext cx="429768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Công Thức Ước Lượng &amp; CPM</a:t>
            </a:r>
          </a:p>
          <a:p>
            <a:pPr>
              <a:lnSpc>
                <a:spcPct val="115000"/>
              </a:lnSpc>
              <a:spcAft>
                <a:spcPts val="400"/>
              </a:spcAft>
              <a:defRPr sz="1200">
                <a:solidFill>
                  <a:srgbClr val="212121"/>
                </a:solidFill>
                <a:latin typeface="Arial"/>
              </a:defRPr>
            </a:pPr>
            <a:r>
              <a:t>• Ước lượng 3 điểm PERT: `Te = (O + 4M + P) / 6`, giảm thiểu sai số chủ quan của con người.</a:t>
            </a:r>
          </a:p>
          <a:p>
            <a:pPr>
              <a:lnSpc>
                <a:spcPct val="115000"/>
              </a:lnSpc>
              <a:spcAft>
                <a:spcPts val="400"/>
              </a:spcAft>
              <a:defRPr sz="1200">
                <a:solidFill>
                  <a:srgbClr val="212121"/>
                </a:solidFill>
                <a:latin typeface="Arial"/>
              </a:defRPr>
            </a:pPr>
            <a:r>
              <a:t>• Phương pháp sơ đồ tiền độ (PDM): Xác định các mối quan hệ Finish-to-Start (FS) giữa 14 hoạt động.</a:t>
            </a:r>
          </a:p>
          <a:p>
            <a:pPr>
              <a:lnSpc>
                <a:spcPct val="115000"/>
              </a:lnSpc>
              <a:spcAft>
                <a:spcPts val="400"/>
              </a:spcAft>
              <a:defRPr sz="1200">
                <a:solidFill>
                  <a:srgbClr val="212121"/>
                </a:solidFill>
                <a:latin typeface="Arial"/>
              </a:defRPr>
            </a:pPr>
            <a:r>
              <a:t>• Đường găng (Critical Path): Chuỗi công việc có tổng thời gian dự trữ bằng 0 (`Float = 0`).</a:t>
            </a:r>
          </a:p>
          <a:p>
            <a:pPr>
              <a:lnSpc>
                <a:spcPct val="115000"/>
              </a:lnSpc>
              <a:spcAft>
                <a:spcPts val="400"/>
              </a:spcAft>
              <a:defRPr sz="1200">
                <a:solidFill>
                  <a:srgbClr val="212121"/>
                </a:solidFill>
                <a:latin typeface="Arial"/>
              </a:defRPr>
            </a:pPr>
            <a:r>
              <a:t>• Thời lượng đường găng: Đúng 51 ngày làm việc mô hình.</a:t>
            </a:r>
          </a:p>
          <a:p>
            <a:pPr>
              <a:lnSpc>
                <a:spcPct val="115000"/>
              </a:lnSpc>
              <a:spcAft>
                <a:spcPts val="400"/>
              </a:spcAft>
              <a:defRPr sz="1200">
                <a:solidFill>
                  <a:srgbClr val="212121"/>
                </a:solidFill>
                <a:latin typeface="Arial"/>
              </a:defRPr>
            </a:pPr>
            <a:r>
              <a:t>• Ý nghĩa quản trị: Bất kỳ sự chậm trễ nào trên đường găng (màu đỏ) đều sẽ làm chậm tiến độ toàn bộ dự án.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IT PROJECT MANAGEMENT • THEO DÕI TIẾN ĐỘ</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Biểu Đồ Tiến Độ Gantt (Gantt Chart &amp; Đường Găng 51 Ngày)</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Quản Lý Dự Án Công Nghệ Thông Tin — Trang 7/12</a:t>
            </a:r>
          </a:p>
        </p:txBody>
      </p:sp>
      <p:pic>
        <p:nvPicPr>
          <p:cNvPr id="5" name="Picture 4" descr="fig_gantt_chart.png"/>
          <p:cNvPicPr>
            <a:picLocks noChangeAspect="1"/>
          </p:cNvPicPr>
          <p:nvPr/>
        </p:nvPicPr>
        <p:blipFill>
          <a:blip r:embed="rId2"/>
          <a:stretch>
            <a:fillRect/>
          </a:stretch>
        </p:blipFill>
        <p:spPr>
          <a:xfrm>
            <a:off x="731520" y="1645920"/>
            <a:ext cx="6583680" cy="4389120"/>
          </a:xfrm>
          <a:prstGeom prst="rect">
            <a:avLst/>
          </a:prstGeom>
        </p:spPr>
      </p:pic>
      <p:sp>
        <p:nvSpPr>
          <p:cNvPr id="6" name="Rounded Rectangle 5"/>
          <p:cNvSpPr/>
          <p:nvPr/>
        </p:nvSpPr>
        <p:spPr>
          <a:xfrm>
            <a:off x="7498079" y="1645920"/>
            <a:ext cx="393192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Đặc Tả Tiến Độ Thực Nghiệm</a:t>
            </a:r>
          </a:p>
          <a:p>
            <a:pPr>
              <a:lnSpc>
                <a:spcPct val="115000"/>
              </a:lnSpc>
              <a:spcAft>
                <a:spcPts val="400"/>
              </a:spcAft>
              <a:defRPr sz="1200">
                <a:solidFill>
                  <a:srgbClr val="212121"/>
                </a:solidFill>
                <a:latin typeface="Arial"/>
              </a:defRPr>
            </a:pPr>
            <a:r>
              <a:t>• Mô hình tiến độ chuẩn: Thể hiện 14 gói công việc trên trục thời gian tuần tự.</a:t>
            </a:r>
          </a:p>
          <a:p>
            <a:pPr>
              <a:lnSpc>
                <a:spcPct val="115000"/>
              </a:lnSpc>
              <a:spcAft>
                <a:spcPts val="400"/>
              </a:spcAft>
              <a:defRPr sz="1200">
                <a:solidFill>
                  <a:srgbClr val="212121"/>
                </a:solidFill>
                <a:latin typeface="Arial"/>
              </a:defRPr>
            </a:pPr>
            <a:r>
              <a:t>• Các mốc kiểm soát chính (Milestones):</a:t>
            </a:r>
          </a:p>
          <a:p>
            <a:pPr>
              <a:lnSpc>
                <a:spcPct val="115000"/>
              </a:lnSpc>
              <a:spcAft>
                <a:spcPts val="400"/>
              </a:spcAft>
              <a:defRPr sz="1200">
                <a:solidFill>
                  <a:srgbClr val="212121"/>
                </a:solidFill>
                <a:latin typeface="Arial"/>
              </a:defRPr>
            </a:pPr>
            <a:r>
              <a:t>• • M1: Khóa yêu cầu &amp; Thiết kế (Tuần 3).</a:t>
            </a:r>
          </a:p>
          <a:p>
            <a:pPr>
              <a:lnSpc>
                <a:spcPct val="115000"/>
              </a:lnSpc>
              <a:spcAft>
                <a:spcPts val="400"/>
              </a:spcAft>
              <a:defRPr sz="1200">
                <a:solidFill>
                  <a:srgbClr val="212121"/>
                </a:solidFill>
                <a:latin typeface="Arial"/>
              </a:defRPr>
            </a:pPr>
            <a:r>
              <a:t>• • M2: Hoàn thành Backend Core (Tuần 6).</a:t>
            </a:r>
          </a:p>
          <a:p>
            <a:pPr>
              <a:lnSpc>
                <a:spcPct val="115000"/>
              </a:lnSpc>
              <a:spcAft>
                <a:spcPts val="400"/>
              </a:spcAft>
              <a:defRPr sz="1200">
                <a:solidFill>
                  <a:srgbClr val="212121"/>
                </a:solidFill>
                <a:latin typeface="Arial"/>
              </a:defRPr>
            </a:pPr>
            <a:r>
              <a:t>• • M3: Hoàn thành Mobile Client (Tuần 8).</a:t>
            </a:r>
          </a:p>
          <a:p>
            <a:pPr>
              <a:lnSpc>
                <a:spcPct val="115000"/>
              </a:lnSpc>
              <a:spcAft>
                <a:spcPts val="400"/>
              </a:spcAft>
              <a:defRPr sz="1200">
                <a:solidFill>
                  <a:srgbClr val="212121"/>
                </a:solidFill>
                <a:latin typeface="Arial"/>
              </a:defRPr>
            </a:pPr>
            <a:r>
              <a:t>• • M4: Đóng gói tích hợp &amp; CI (Tuần 10).</a:t>
            </a:r>
          </a:p>
          <a:p>
            <a:pPr>
              <a:lnSpc>
                <a:spcPct val="115000"/>
              </a:lnSpc>
              <a:spcAft>
                <a:spcPts val="400"/>
              </a:spcAft>
              <a:defRPr sz="1200">
                <a:solidFill>
                  <a:srgbClr val="212121"/>
                </a:solidFill>
                <a:latin typeface="Arial"/>
              </a:defRPr>
            </a:pPr>
            <a:r>
              <a:t>• • M5: Bàn giao &amp; Nghiệm thu (Tuần 11).</a:t>
            </a:r>
          </a:p>
          <a:p>
            <a:pPr>
              <a:lnSpc>
                <a:spcPct val="115000"/>
              </a:lnSpc>
              <a:spcAft>
                <a:spcPts val="400"/>
              </a:spcAft>
              <a:defRPr sz="1200">
                <a:solidFill>
                  <a:srgbClr val="212121"/>
                </a:solidFill>
                <a:latin typeface="Arial"/>
              </a:defRPr>
            </a:pPr>
            <a:r>
              <a:t>• Công cụ tạo biểu đồ: Sinh tự động từ bảng dữ liệu tính toán Excel chuẩn xác.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IT PROJECT MANAGEMENT • QUẢN TRỊ NGUỒN LỰC</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Tổ Chức Nhân Sự &amp; Ma Trận Trách Nhiệm RACI</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Quản Lý Dự Án Công Nghệ Thông Tin — Trang 8/12</a:t>
            </a:r>
          </a:p>
        </p:txBody>
      </p:sp>
      <p:sp>
        <p:nvSpPr>
          <p:cNvPr id="5" name="Rounded Rectangle 4"/>
          <p:cNvSpPr/>
          <p:nvPr/>
        </p:nvSpPr>
        <p:spPr>
          <a:xfrm>
            <a:off x="7315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Cơ Cấu Tổ Chức Nhóm 4 Thành Viên</a:t>
            </a:r>
          </a:p>
          <a:p>
            <a:pPr>
              <a:lnSpc>
                <a:spcPct val="115000"/>
              </a:lnSpc>
              <a:spcAft>
                <a:spcPts val="400"/>
              </a:spcAft>
              <a:defRPr sz="1200">
                <a:solidFill>
                  <a:srgbClr val="212121"/>
                </a:solidFill>
                <a:latin typeface="Arial"/>
              </a:defRPr>
            </a:pPr>
            <a:r>
              <a:t>• Nguyễn Minh Hiếu (Leader): Quản trị tổng thể dự án, kiến trúc hệ thống, lịch trình CPM và điều phối chất lượng.</a:t>
            </a:r>
          </a:p>
          <a:p>
            <a:pPr>
              <a:lnSpc>
                <a:spcPct val="115000"/>
              </a:lnSpc>
              <a:spcAft>
                <a:spcPts val="400"/>
              </a:spcAft>
              <a:defRPr sz="1200">
                <a:solidFill>
                  <a:srgbClr val="212121"/>
                </a:solidFill>
                <a:latin typeface="Arial"/>
              </a:defRPr>
            </a:pPr>
            <a:r>
              <a:t>• Nguyễn Văn Cường: Kỹ sư Backend chính, phân tích nghiệp vụ, thiết kế RESTful API và đặc tả WBS.</a:t>
            </a:r>
          </a:p>
          <a:p>
            <a:pPr>
              <a:lnSpc>
                <a:spcPct val="115000"/>
              </a:lnSpc>
              <a:spcAft>
                <a:spcPts val="400"/>
              </a:spcAft>
              <a:defRPr sz="1200">
                <a:solidFill>
                  <a:srgbClr val="212121"/>
                </a:solidFill>
                <a:latin typeface="Arial"/>
              </a:defRPr>
            </a:pPr>
            <a:r>
              <a:t>• Vũ Thị Thu Hướng: Kỹ sư CSDL &amp; Đảm bảo chất lượng (QA), quản trị Flyway schema và xây dựng kế hoạch kiểm thử.</a:t>
            </a:r>
          </a:p>
          <a:p>
            <a:pPr>
              <a:lnSpc>
                <a:spcPct val="115000"/>
              </a:lnSpc>
              <a:spcAft>
                <a:spcPts val="400"/>
              </a:spcAft>
              <a:defRPr sz="1200">
                <a:solidFill>
                  <a:srgbClr val="212121"/>
                </a:solidFill>
                <a:latin typeface="Arial"/>
              </a:defRPr>
            </a:pPr>
            <a:r>
              <a:t>• Hoàng Bảo Long: Kỹ sư Bảo mật &amp; Mobile, quản trị xác thực JWT, phân bổ nguồn lực và ma trận RACI.</a:t>
            </a:r>
          </a:p>
        </p:txBody>
      </p:sp>
      <p:sp>
        <p:nvSpPr>
          <p:cNvPr id="6" name="Rounded Rectangle 5"/>
          <p:cNvSpPr/>
          <p:nvPr/>
        </p:nvSpPr>
        <p:spPr>
          <a:xfrm>
            <a:off x="6217920" y="1645920"/>
            <a:ext cx="5120640" cy="4389120"/>
          </a:xfrm>
          <a:prstGeom prst="roundRect">
            <a:avLst/>
          </a:prstGeom>
          <a:solidFill>
            <a:srgbClr val="F5F9FD"/>
          </a:solidFill>
          <a:ln w="19050">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Ma Trận Trách Nhiệm RACI Chuẩn</a:t>
            </a:r>
          </a:p>
          <a:p>
            <a:pPr>
              <a:lnSpc>
                <a:spcPct val="115000"/>
              </a:lnSpc>
              <a:spcAft>
                <a:spcPts val="400"/>
              </a:spcAft>
              <a:defRPr sz="1200">
                <a:solidFill>
                  <a:srgbClr val="212121"/>
                </a:solidFill>
                <a:latin typeface="Arial"/>
              </a:defRPr>
            </a:pPr>
            <a:r>
              <a:t>• R (Responsible - Người thực hiện): Người trực tiếp bắt tay vào làm ra sản phẩm.</a:t>
            </a:r>
          </a:p>
          <a:p>
            <a:pPr>
              <a:lnSpc>
                <a:spcPct val="115000"/>
              </a:lnSpc>
              <a:spcAft>
                <a:spcPts val="400"/>
              </a:spcAft>
              <a:defRPr sz="1200">
                <a:solidFill>
                  <a:srgbClr val="212121"/>
                </a:solidFill>
                <a:latin typeface="Arial"/>
              </a:defRPr>
            </a:pPr>
            <a:r>
              <a:t>• A (Accountable - Người chịu trách nhiệm cuối cùng): Duy nhất 1 người chịu trách nhiệm phê duyệt kết quả.</a:t>
            </a:r>
          </a:p>
          <a:p>
            <a:pPr>
              <a:lnSpc>
                <a:spcPct val="115000"/>
              </a:lnSpc>
              <a:spcAft>
                <a:spcPts val="400"/>
              </a:spcAft>
              <a:defRPr sz="1200">
                <a:solidFill>
                  <a:srgbClr val="212121"/>
                </a:solidFill>
                <a:latin typeface="Arial"/>
              </a:defRPr>
            </a:pPr>
            <a:r>
              <a:t>• C (Consulted - Người được tham vấn): Chuyên gia đóng góp ý kiến chuyên môn.</a:t>
            </a:r>
          </a:p>
          <a:p>
            <a:pPr>
              <a:lnSpc>
                <a:spcPct val="115000"/>
              </a:lnSpc>
              <a:spcAft>
                <a:spcPts val="400"/>
              </a:spcAft>
              <a:defRPr sz="1200">
                <a:solidFill>
                  <a:srgbClr val="212121"/>
                </a:solidFill>
                <a:latin typeface="Arial"/>
              </a:defRPr>
            </a:pPr>
            <a:r>
              <a:t>• I (Informed - Người được thông báo): Các bên nhận thông tin tiến độ.</a:t>
            </a:r>
          </a:p>
          <a:p>
            <a:pPr>
              <a:lnSpc>
                <a:spcPct val="115000"/>
              </a:lnSpc>
              <a:spcAft>
                <a:spcPts val="400"/>
              </a:spcAft>
              <a:defRPr sz="1200">
                <a:solidFill>
                  <a:srgbClr val="212121"/>
                </a:solidFill>
                <a:latin typeface="Arial"/>
              </a:defRPr>
            </a:pPr>
            <a:r>
              <a:t>• Quy tắc vàng: Mọi hoạt động trong dự án chỉ có DUY NHẤT 1 chữ A để tránh hiện tượng đùn đẩy trách nhiệm.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IT PROJECT MANAGEMENT • CÂN BẰNG TẢI NHÂN LỰC</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Phân Bổ Tải Nhân Sự &amp; Cân Bằng Nguồn Lực (Resource Leveling)</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Quản Lý Dự Án Công Nghệ Thông Tin — Trang 9/12</a:t>
            </a:r>
          </a:p>
        </p:txBody>
      </p:sp>
      <p:pic>
        <p:nvPicPr>
          <p:cNvPr id="5" name="Picture 4" descr="fig_workload_histogram.png"/>
          <p:cNvPicPr>
            <a:picLocks noChangeAspect="1"/>
          </p:cNvPicPr>
          <p:nvPr/>
        </p:nvPicPr>
        <p:blipFill>
          <a:blip r:embed="rId2"/>
          <a:stretch>
            <a:fillRect/>
          </a:stretch>
        </p:blipFill>
        <p:spPr>
          <a:xfrm>
            <a:off x="731520" y="1645920"/>
            <a:ext cx="6400800" cy="4389120"/>
          </a:xfrm>
          <a:prstGeom prst="rect">
            <a:avLst/>
          </a:prstGeom>
        </p:spPr>
      </p:pic>
      <p:sp>
        <p:nvSpPr>
          <p:cNvPr id="6" name="Rounded Rectangle 5"/>
          <p:cNvSpPr/>
          <p:nvPr/>
        </p:nvSpPr>
        <p:spPr>
          <a:xfrm>
            <a:off x="7315200" y="1645920"/>
            <a:ext cx="411480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Phân Tích Cân Bằng Tải</a:t>
            </a:r>
          </a:p>
          <a:p>
            <a:pPr>
              <a:lnSpc>
                <a:spcPct val="115000"/>
              </a:lnSpc>
              <a:spcAft>
                <a:spcPts val="400"/>
              </a:spcAft>
              <a:defRPr sz="1200">
                <a:solidFill>
                  <a:srgbClr val="212121"/>
                </a:solidFill>
                <a:latin typeface="Arial"/>
              </a:defRPr>
            </a:pPr>
            <a:r>
              <a:t>• Giới hạn định mức: Định mức tối đa 8 giờ làm việc/ngày cho mỗi thành viên.</a:t>
            </a:r>
          </a:p>
          <a:p>
            <a:pPr>
              <a:lnSpc>
                <a:spcPct val="115000"/>
              </a:lnSpc>
              <a:spcAft>
                <a:spcPts val="400"/>
              </a:spcAft>
              <a:defRPr sz="1200">
                <a:solidFill>
                  <a:srgbClr val="212121"/>
                </a:solidFill>
                <a:latin typeface="Arial"/>
              </a:defRPr>
            </a:pPr>
            <a:r>
              <a:t>• Phát hiện quá tải ban đầu: Ở tuần thứ 5, kỹ sư Backend bị phân công trùng 2 tác vụ dẫn đến tải lên tới 12 giờ/ngày.</a:t>
            </a:r>
          </a:p>
          <a:p>
            <a:pPr>
              <a:lnSpc>
                <a:spcPct val="115000"/>
              </a:lnSpc>
              <a:spcAft>
                <a:spcPts val="400"/>
              </a:spcAft>
              <a:defRPr sz="1200">
                <a:solidFill>
                  <a:srgbClr val="212121"/>
                </a:solidFill>
                <a:latin typeface="Arial"/>
              </a:defRPr>
            </a:pPr>
            <a:r>
              <a:t>• Kỹ thuật cân bằng nguồn lực (Resource Leveling): Tận dụng thời gian dự trữ (Float) của tác vụ Cài đặt môi trường để lùi lại 3 ngày.</a:t>
            </a:r>
          </a:p>
          <a:p>
            <a:pPr>
              <a:lnSpc>
                <a:spcPct val="115000"/>
              </a:lnSpc>
              <a:spcAft>
                <a:spcPts val="400"/>
              </a:spcAft>
              <a:defRPr sz="1200">
                <a:solidFill>
                  <a:srgbClr val="212121"/>
                </a:solidFill>
                <a:latin typeface="Arial"/>
              </a:defRPr>
            </a:pPr>
            <a:r>
              <a:t>• Kết quả sau cân bằng: Tải của toàn bộ 4 thành viên dao động an toàn từ 6 đến 8 giờ/ngày, loại bỏ hoàn toàn nguy cơ kiệt sức (Burnout).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IT PROJECT MANAGEMENT • KIỂM SOÁT DỰ ÁN</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Quản Trị Rủi Ro, Kế Hoạch Chất Lượng &amp; Kiểm Soát Thay Đổi</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Quản Lý Dự Án Công Nghệ Thông Tin — Trang 10/12</a:t>
            </a:r>
          </a:p>
        </p:txBody>
      </p:sp>
      <p:sp>
        <p:nvSpPr>
          <p:cNvPr id="5" name="Rounded Rectangle 4"/>
          <p:cNvSpPr/>
          <p:nvPr/>
        </p:nvSpPr>
        <p:spPr>
          <a:xfrm>
            <a:off x="731520" y="1645920"/>
            <a:ext cx="5120640" cy="4389120"/>
          </a:xfrm>
          <a:prstGeom prst="roundRect">
            <a:avLst/>
          </a:prstGeom>
          <a:solidFill>
            <a:srgbClr val="F5F9FD"/>
          </a:solidFill>
          <a:ln w="19050">
            <a:solidFill>
              <a:srgbClr val="D32F2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Ma Trận Rủi Ro (Risk Matrix)</a:t>
            </a:r>
          </a:p>
          <a:p>
            <a:pPr>
              <a:lnSpc>
                <a:spcPct val="115000"/>
              </a:lnSpc>
              <a:spcAft>
                <a:spcPts val="400"/>
              </a:spcAft>
              <a:defRPr sz="1200">
                <a:solidFill>
                  <a:srgbClr val="212121"/>
                </a:solidFill>
                <a:latin typeface="Arial"/>
              </a:defRPr>
            </a:pPr>
            <a:r>
              <a:t>• Rủi ro 1: Sai lệch cấu trúc cơ sở dữ liệu khi nhiều người cùng viết migration -&gt; Biện pháp: Khóa cứng Flyway Checksum trên CI.</a:t>
            </a:r>
          </a:p>
          <a:p>
            <a:pPr>
              <a:lnSpc>
                <a:spcPct val="115000"/>
              </a:lnSpc>
              <a:spcAft>
                <a:spcPts val="400"/>
              </a:spcAft>
              <a:defRPr sz="1200">
                <a:solidFill>
                  <a:srgbClr val="212121"/>
                </a:solidFill>
                <a:latin typeface="Arial"/>
              </a:defRPr>
            </a:pPr>
            <a:r>
              <a:t>• Rủi ro 2: Thành viên nghỉ ốm làm chậm tiến độ -&gt; Biện pháp: Áp dụng cặp đôi chéo (Cross-functional pair), mã nguồn có tài liệu rõ ràng.</a:t>
            </a:r>
          </a:p>
          <a:p>
            <a:pPr>
              <a:lnSpc>
                <a:spcPct val="115000"/>
              </a:lnSpc>
              <a:spcAft>
                <a:spcPts val="400"/>
              </a:spcAft>
              <a:defRPr sz="1200">
                <a:solidFill>
                  <a:srgbClr val="212121"/>
                </a:solidFill>
                <a:latin typeface="Arial"/>
              </a:defRPr>
            </a:pPr>
            <a:r>
              <a:t>• Rủi ro 3: Tràn bộ nhớ trên thiết bị di động cũ -&gt; Biện pháp: Tối ưu FlatList và giải phóng bộ nhớ RAM.</a:t>
            </a:r>
          </a:p>
          <a:p>
            <a:pPr>
              <a:lnSpc>
                <a:spcPct val="115000"/>
              </a:lnSpc>
              <a:spcAft>
                <a:spcPts val="400"/>
              </a:spcAft>
              <a:defRPr sz="1200">
                <a:solidFill>
                  <a:srgbClr val="212121"/>
                </a:solidFill>
                <a:latin typeface="Arial"/>
              </a:defRPr>
            </a:pPr>
            <a:r>
              <a:t>• Sổ đăng ký rủi ro (Risk Register): Theo dõi định kỳ hàng tuần để cập nhật mức độ tác động.</a:t>
            </a:r>
          </a:p>
        </p:txBody>
      </p:sp>
      <p:sp>
        <p:nvSpPr>
          <p:cNvPr id="6" name="Rounded Rectangle 5"/>
          <p:cNvSpPr/>
          <p:nvPr/>
        </p:nvSpPr>
        <p:spPr>
          <a:xfrm>
            <a:off x="62179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Kế Hoạch Quản Lý Chất Lượng</a:t>
            </a:r>
          </a:p>
          <a:p>
            <a:pPr>
              <a:lnSpc>
                <a:spcPct val="115000"/>
              </a:lnSpc>
              <a:spcAft>
                <a:spcPts val="400"/>
              </a:spcAft>
              <a:defRPr sz="1200">
                <a:solidFill>
                  <a:srgbClr val="212121"/>
                </a:solidFill>
                <a:latin typeface="Arial"/>
              </a:defRPr>
            </a:pPr>
            <a:r>
              <a:t>• Cổng chất lượng (Quality Gates): 100% commit phải vượt qua kiểm tra Checkstyle 0 lỗi trước khi merge.</a:t>
            </a:r>
          </a:p>
          <a:p>
            <a:pPr>
              <a:lnSpc>
                <a:spcPct val="115000"/>
              </a:lnSpc>
              <a:spcAft>
                <a:spcPts val="400"/>
              </a:spcAft>
              <a:defRPr sz="1200">
                <a:solidFill>
                  <a:srgbClr val="212121"/>
                </a:solidFill>
                <a:latin typeface="Arial"/>
              </a:defRPr>
            </a:pPr>
            <a:r>
              <a:t>• Kiểm thử tự động hồi quy: 351 Backend Tests và 1,144 Mobile Tests đóng vai trò lưới an toàn chất lượng.</a:t>
            </a:r>
          </a:p>
          <a:p>
            <a:pPr>
              <a:lnSpc>
                <a:spcPct val="115000"/>
              </a:lnSpc>
              <a:spcAft>
                <a:spcPts val="400"/>
              </a:spcAft>
              <a:defRPr sz="1200">
                <a:solidFill>
                  <a:srgbClr val="212121"/>
                </a:solidFill>
                <a:latin typeface="Arial"/>
              </a:defRPr>
            </a:pPr>
            <a:r>
              <a:t>• Quy trình kiểm soát thay đổi (Change Control): Mọi yêu cầu thay đổi tính năng đều phải làm phiếu Change Request và được Quản lý dự án phê duyệt trước khi sửa mã nguồn.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IT PROJECT MANAGEMENT • ĐÁNH GIÁ HỌC THUẬT</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Đánh Giá Kết Quả Dự Án &amp; Công Bố Dữ Liệu Thực Nghiệm</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Quản Lý Dự Án Công Nghệ Thông Tin — Trang 11/12</a:t>
            </a:r>
          </a:p>
        </p:txBody>
      </p:sp>
      <p:sp>
        <p:nvSpPr>
          <p:cNvPr id="5" name="Rounded Rectangle 4"/>
          <p:cNvSpPr/>
          <p:nvPr/>
        </p:nvSpPr>
        <p:spPr>
          <a:xfrm>
            <a:off x="7315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Các Kết Quả Quản Trị Đã Đạt Được</a:t>
            </a:r>
          </a:p>
          <a:p>
            <a:pPr>
              <a:lnSpc>
                <a:spcPct val="115000"/>
              </a:lnSpc>
              <a:spcAft>
                <a:spcPts val="400"/>
              </a:spcAft>
              <a:defRPr sz="1200">
                <a:solidFill>
                  <a:srgbClr val="212121"/>
                </a:solidFill>
                <a:latin typeface="Arial"/>
              </a:defRPr>
            </a:pPr>
            <a:r>
              <a:t>• Hoàn thành trọn vẹn bộ hồ sơ quản lý dự án chuyên nghiệp theo định dạng hướng dẫn của Khoa CNTT.</a:t>
            </a:r>
          </a:p>
          <a:p>
            <a:pPr>
              <a:lnSpc>
                <a:spcPct val="115000"/>
              </a:lnSpc>
              <a:spcAft>
                <a:spcPts val="400"/>
              </a:spcAft>
              <a:defRPr sz="1200">
                <a:solidFill>
                  <a:srgbClr val="212121"/>
                </a:solidFill>
                <a:latin typeface="Arial"/>
              </a:defRPr>
            </a:pPr>
            <a:r>
              <a:t>• Xây dựng thành công mô hình WBS 14 gói công việc, bảng ước lượng PERT, sơ đồ mạng PDM/CPM và biểu đồ Gantt Chart.</a:t>
            </a:r>
          </a:p>
          <a:p>
            <a:pPr>
              <a:lnSpc>
                <a:spcPct val="115000"/>
              </a:lnSpc>
              <a:spcAft>
                <a:spcPts val="400"/>
              </a:spcAft>
              <a:defRPr sz="1200">
                <a:solidFill>
                  <a:srgbClr val="212121"/>
                </a:solidFill>
                <a:latin typeface="Arial"/>
              </a:defRPr>
            </a:pPr>
            <a:r>
              <a:t>• Thiết lập ma trận RACI và biểu đồ phân bổ tải nhân sự khoa học, không có hiện tượng quá tải.</a:t>
            </a:r>
          </a:p>
          <a:p>
            <a:pPr>
              <a:lnSpc>
                <a:spcPct val="115000"/>
              </a:lnSpc>
              <a:spcAft>
                <a:spcPts val="400"/>
              </a:spcAft>
              <a:defRPr sz="1200">
                <a:solidFill>
                  <a:srgbClr val="212121"/>
                </a:solidFill>
                <a:latin typeface="Arial"/>
              </a:defRPr>
            </a:pPr>
            <a:r>
              <a:t>• Tạo lập tệp bảng tính tự động hóa: `WORKSPHERE_PROJECT_MANAGEMENT_CALCULATIONS.xlsx` với các công thức toán học chuẩn xác.</a:t>
            </a:r>
          </a:p>
        </p:txBody>
      </p:sp>
      <p:sp>
        <p:nvSpPr>
          <p:cNvPr id="6" name="Rounded Rectangle 5"/>
          <p:cNvSpPr/>
          <p:nvPr/>
        </p:nvSpPr>
        <p:spPr>
          <a:xfrm>
            <a:off x="6217920" y="1645920"/>
            <a:ext cx="5120640" cy="4389120"/>
          </a:xfrm>
          <a:prstGeom prst="roundRect">
            <a:avLst/>
          </a:prstGeom>
          <a:solidFill>
            <a:srgbClr val="F5F9FD"/>
          </a:solidFill>
          <a:ln w="1905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Công Bố Thông Tin Minh Bạch Bắt Buộc</a:t>
            </a:r>
          </a:p>
          <a:p>
            <a:pPr>
              <a:lnSpc>
                <a:spcPct val="115000"/>
              </a:lnSpc>
              <a:spcAft>
                <a:spcPts val="400"/>
              </a:spcAft>
              <a:defRPr sz="1200">
                <a:solidFill>
                  <a:srgbClr val="212121"/>
                </a:solidFill>
                <a:latin typeface="Arial"/>
              </a:defRPr>
            </a:pPr>
            <a:r>
              <a:t>• Dữ liệu mô hình học thuật (Academic Plan Model): Bảng tiến độ và công nhật được xây dựng theo mô hình chuẩn để đối soát phương pháp luận quản lý dự án.</a:t>
            </a:r>
          </a:p>
          <a:p>
            <a:pPr>
              <a:lnSpc>
                <a:spcPct val="115000"/>
              </a:lnSpc>
              <a:spcAft>
                <a:spcPts val="400"/>
              </a:spcAft>
              <a:defRPr sz="1200">
                <a:solidFill>
                  <a:srgbClr val="212121"/>
                </a:solidFill>
                <a:latin typeface="Arial"/>
              </a:defRPr>
            </a:pPr>
            <a:r>
              <a:t>• Biên bản họp nhóm &amp; Nhật ký cá nhân: Đang ở trạng thái biểu mẫu (Templates) chờ các thành viên nhóm hoàn thiện và ký xác nhận.</a:t>
            </a:r>
          </a:p>
          <a:p>
            <a:pPr>
              <a:lnSpc>
                <a:spcPct val="115000"/>
              </a:lnSpc>
              <a:spcAft>
                <a:spcPts val="400"/>
              </a:spcAft>
              <a:defRPr sz="1200">
                <a:solidFill>
                  <a:srgbClr val="212121"/>
                </a:solidFill>
                <a:latin typeface="Arial"/>
              </a:defRPr>
            </a:pPr>
            <a:r>
              <a:t>• Tỷ lệ phần trăm đóng góp: Ở trạng thái đề xuất chờ Người dùng và Giảng viên phê duyệt chính thức.</a:t>
            </a:r>
          </a:p>
          <a:p>
            <a:pPr>
              <a:lnSpc>
                <a:spcPct val="115000"/>
              </a:lnSpc>
              <a:spcAft>
                <a:spcPts val="400"/>
              </a:spcAft>
              <a:defRPr sz="1200">
                <a:solidFill>
                  <a:srgbClr val="212121"/>
                </a:solidFill>
                <a:latin typeface="Arial"/>
              </a:defRPr>
            </a:pPr>
            <a:r>
              <a:t>• Điểm số báo cáo: Do Giảng viên và Hội đồng chấm thi quyết định hoàn toàn; nhóm tuyệt đối không tự chấm điểm.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IT PROJECT MANAGEMENT • KẾT THÚC THUYẾT TRÌNH</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Hỏi Đáp (Q&amp;A) &amp; Danh Mục Hồ Sơ Dự Án</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Quản Lý Dự Án Công Nghệ Thông Tin — Trang 12/12</a:t>
            </a:r>
          </a:p>
        </p:txBody>
      </p:sp>
      <p:sp>
        <p:nvSpPr>
          <p:cNvPr id="5" name="Rounded Rectangle 4"/>
          <p:cNvSpPr/>
          <p:nvPr/>
        </p:nvSpPr>
        <p:spPr>
          <a:xfrm>
            <a:off x="7315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Lời Cảm Ơn Từ Nhóm 4 Sinh Viên</a:t>
            </a:r>
          </a:p>
          <a:p>
            <a:pPr>
              <a:lnSpc>
                <a:spcPct val="115000"/>
              </a:lnSpc>
              <a:spcAft>
                <a:spcPts val="400"/>
              </a:spcAft>
              <a:defRPr sz="1200">
                <a:solidFill>
                  <a:srgbClr val="212121"/>
                </a:solidFill>
                <a:latin typeface="Arial"/>
              </a:defRPr>
            </a:pPr>
            <a:r>
              <a:t>• Nhóm sinh viên xin trân trọng cảm ơn quý Thầy/Cô trong Hội đồng đã dành thời gian theo dõi bài báo cáo!</a:t>
            </a:r>
          </a:p>
          <a:p>
            <a:pPr>
              <a:lnSpc>
                <a:spcPct val="115000"/>
              </a:lnSpc>
              <a:spcAft>
                <a:spcPts val="400"/>
              </a:spcAft>
              <a:defRPr sz="1200">
                <a:solidFill>
                  <a:srgbClr val="212121"/>
                </a:solidFill>
                <a:latin typeface="Arial"/>
              </a:defRPr>
            </a:pPr>
            <a:r>
              <a:t>• Nhóm đã tiếp thu được rất nhiều kiến thức và kinh nghiệm quản lý dự án quý báu trong suốt quá trình thực hiện đề tài.</a:t>
            </a:r>
          </a:p>
          <a:p>
            <a:pPr>
              <a:lnSpc>
                <a:spcPct val="115000"/>
              </a:lnSpc>
              <a:spcAft>
                <a:spcPts val="400"/>
              </a:spcAft>
              <a:defRPr sz="1200">
                <a:solidFill>
                  <a:srgbClr val="212121"/>
                </a:solidFill>
                <a:latin typeface="Arial"/>
              </a:defRPr>
            </a:pPr>
            <a:r>
              <a:t>• Kính chúc quý Thầy Cô sức khỏe và công tác tốt!</a:t>
            </a:r>
          </a:p>
        </p:txBody>
      </p:sp>
      <p:sp>
        <p:nvSpPr>
          <p:cNvPr id="6" name="Rounded Rectangle 5"/>
          <p:cNvSpPr/>
          <p:nvPr/>
        </p:nvSpPr>
        <p:spPr>
          <a:xfrm>
            <a:off x="6217920" y="1645920"/>
            <a:ext cx="5120640" cy="4389120"/>
          </a:xfrm>
          <a:prstGeom prst="roundRect">
            <a:avLst/>
          </a:prstGeom>
          <a:solidFill>
            <a:srgbClr val="F5F9FD"/>
          </a:solidFill>
          <a:ln w="19050">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Danh Mục Hồ Sơ Sẵn Sàng Đối Soát</a:t>
            </a:r>
          </a:p>
          <a:p>
            <a:pPr>
              <a:lnSpc>
                <a:spcPct val="115000"/>
              </a:lnSpc>
              <a:spcAft>
                <a:spcPts val="400"/>
              </a:spcAft>
              <a:defRPr sz="1200">
                <a:solidFill>
                  <a:srgbClr val="212121"/>
                </a:solidFill>
                <a:latin typeface="Arial"/>
              </a:defRPr>
            </a:pPr>
            <a:r>
              <a:t>• Báo cáo chuyên khảo: `reports/stage20/it-project-management/`</a:t>
            </a:r>
          </a:p>
          <a:p>
            <a:pPr>
              <a:lnSpc>
                <a:spcPct val="115000"/>
              </a:lnSpc>
              <a:spcAft>
                <a:spcPts val="400"/>
              </a:spcAft>
              <a:defRPr sz="1200">
                <a:solidFill>
                  <a:srgbClr val="212121"/>
                </a:solidFill>
                <a:latin typeface="Arial"/>
              </a:defRPr>
            </a:pPr>
            <a:r>
              <a:t>• Tệp tính toán Excel gốc: `WORKSPHERE_PROJECT_MANAGEMENT_CALCULATIONS.xlsx`</a:t>
            </a:r>
          </a:p>
          <a:p>
            <a:pPr>
              <a:lnSpc>
                <a:spcPct val="115000"/>
              </a:lnSpc>
              <a:spcAft>
                <a:spcPts val="400"/>
              </a:spcAft>
              <a:defRPr sz="1200">
                <a:solidFill>
                  <a:srgbClr val="212121"/>
                </a:solidFill>
                <a:latin typeface="Arial"/>
              </a:defRPr>
            </a:pPr>
            <a:r>
              <a:t>• Các sơ đồ tiến độ độ nét cao: `diagrams/fig_gantt_chart.png`, `fig_workload_histogram.png`</a:t>
            </a:r>
          </a:p>
          <a:p>
            <a:pPr>
              <a:lnSpc>
                <a:spcPct val="115000"/>
              </a:lnSpc>
              <a:spcAft>
                <a:spcPts val="400"/>
              </a:spcAft>
              <a:defRPr sz="1200">
                <a:solidFill>
                  <a:srgbClr val="212121"/>
                </a:solidFill>
                <a:latin typeface="Arial"/>
              </a:defRPr>
            </a:pPr>
            <a:r>
              <a:t>• Nhóm sẵn sàng trả lời các câu hỏi phản biện của Hội đồng!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