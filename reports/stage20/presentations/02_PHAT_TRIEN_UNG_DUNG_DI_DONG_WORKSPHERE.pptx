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Giới thiệu đề tài học phần Phát triển ứng dụng di động, cơ cấu nhóm 4 thành viên.</a:t>
            </a:r>
          </a:p>
          <a:p/>
          <a:p>
            <a:r>
              <a:t>LỜI THUYẾT MINH GỢI Ý:</a:t>
            </a:r>
          </a:p>
          <a:p>
            <a:r>
              <a:t>Kính thưa quý Thầy Cô trong Hội đồng chấm đồ án, hôm nay nhóm 4 sinh viên chúng em xin đại diện báo cáo kết quả hiện thực hóa đề tài: Xây dựng ứng dụng quản trị công việc và tài sản doanh nghiệp WorkSphere bằng React Native và TypeScript thuộc học phần Phát triển ứng dụng di động.</a:t>
            </a:r>
          </a:p>
          <a:p/>
          <a:p>
            <a:r>
              <a:t>THỜI LƯỢNG DỰ KIẾN: 1 phút (PROJECT_PROPOSAL)</a:t>
            </a:r>
          </a:p>
          <a:p>
            <a:r>
              <a:t>NGƯỜI THUYẾT TRÌNH: Nguyễn Văn Cường (BIT240048) (PROPOSED_ASSIGNMENT_PENDING_USER_APPROVAL)</a:t>
            </a:r>
          </a:p>
          <a:p>
            <a:r>
              <a:t>CĂN CỨ MINH CHỨNG: reports/stage20/mobile-development/BAO_CAO_PHAT_TRIEN_UNG_DUNG_DI_DONG_WORKSPHERE.pdf</a:t>
            </a:r>
          </a:p>
          <a:p>
            <a:r>
              <a:t>CÂU HỎI HỘI ĐỒNG DỰ KIẾN: Ứng dụng di động này đóng vai trò gì trong hệ sinh thái WorkSphere?</a:t>
            </a:r>
          </a:p>
          <a:p>
            <a:r>
              <a:t>CÂU TRẢ LỜI AN TOÀN: WorkSphere Mobile đóng vai trò là client di động tiện ích cho nhân sự và cấp quản lý thao tác công việc nhanh chóng mọi lúc mọi nơi trên thiết bị Android/iOS.</a:t>
            </a:r>
          </a:p>
          <a:p>
            <a:r>
              <a:t>GỢI Ý CHUYỂN SLIDE / DEMO: Mở đầu, em xin trình bày bài toán thực tế và phạm vi của ứng dụng di động.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vai trò của mobile client và phạm vi 29 màn hình chức năng.</a:t>
            </a:r>
          </a:p>
          <a:p/>
          <a:p>
            <a:r>
              <a:t>LỜI THUYẾT MINH GỢI Ý:</a:t>
            </a:r>
          </a:p>
          <a:p>
            <a:r>
              <a:t>Trong môi trường làm việc hiện đại, tính cơ động là yếu tố quyết định hiệu suất. WorkSphere Mobile giải quyết triệt để nhu cầu tương tác tức thời của nhân sự thông qua 29 màn hình chức năng, bao phủ từ giao việc, nhận việc đến phê duyệt yêu cầu.</a:t>
            </a:r>
          </a:p>
          <a:p/>
          <a:p>
            <a:r>
              <a:t>THỜI LƯỢNG DỰ KIẾN: 1.5 phút (PROJECT_PROPOSAL)</a:t>
            </a:r>
          </a:p>
          <a:p>
            <a:r>
              <a:t>NGƯỜI THUYẾT TRÌNH: Nguyễn Văn Cường (BIT240048) (PROPOSED_ASSIGNMENT_PENDING_USER_APPROVAL)</a:t>
            </a:r>
          </a:p>
          <a:p>
            <a:r>
              <a:t>CĂN CỨ MINH CHỨNG: docs/03_MOBILE_SCREEN_MAP.md</a:t>
            </a:r>
          </a:p>
          <a:p>
            <a:r>
              <a:t>CÂU HỎI HỘI ĐỒNG DỰ KIẾN: 29 màn hình có quá nhiều cho một bài tập lớn không?</a:t>
            </a:r>
          </a:p>
          <a:p>
            <a:r>
              <a:t>CÂU TRẢ LỜI AN TOÀN: 29 màn hình bao gồm các trạng thái chi tiết (danh sách, chi tiết, tạo mới, chỉnh sửa, đổi mật khẩu) được thiết kế module hóa tái sử dụng cao, không gây phân mảnh mã nguồn.</a:t>
            </a:r>
          </a:p>
          <a:p>
            <a:r>
              <a:t>GỢI Ý CHUYỂN SLIDE / DEMO: Tiếp theo, bạn Hoàng Bảo Long sẽ trình bày về luồng người dùng và vai trò.</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ma trận phân quyền và máy trạng thái công việc trên ứng dụng di động.</a:t>
            </a:r>
          </a:p>
          <a:p/>
          <a:p>
            <a:r>
              <a:t>LỜI THUYẾT MINH GỢI Ý:</a:t>
            </a:r>
          </a:p>
          <a:p>
            <a:r>
              <a:t>Ứng dụng phản ánh trung thực phân quyền doanh nghiệp: nhân viên chỉ được thao tác trên công việc của mình, trong khi cấp quản lý có thêm các hành động phê duyệt. Máy trạng thái công việc được kiểm soát chặt chẽ để ngăn chặn việc nhảy trạng thái sai quy trình.</a:t>
            </a:r>
          </a:p>
          <a:p/>
          <a:p>
            <a:r>
              <a:t>THỜI LƯỢNG DỰ KIẾN: 1.5 phút (PROJECT_PROPOSAL)</a:t>
            </a:r>
          </a:p>
          <a:p>
            <a:r>
              <a:t>NGƯỜI THUYẾT TRÌNH: Hoàng Bảo Long (BIT240142) (PROPOSED_ASSIGNMENT_PENDING_USER_APPROVAL)</a:t>
            </a:r>
          </a:p>
          <a:p>
            <a:r>
              <a:t>CĂN CỨ MINH CHỨNG: docs/02_USER_ROLES_AND_WORKFLOWS.md</a:t>
            </a:r>
          </a:p>
          <a:p>
            <a:r>
              <a:t>CÂU HỎI HỘI ĐỒNG DỰ KIẾN: Nếu nhân viên cố tình gọi API chuyển trạng thái không được phép thì sao?</a:t>
            </a:r>
          </a:p>
          <a:p>
            <a:r>
              <a:t>CÂU TRẢ LỜI AN TOÀN: Giao diện di động tự động ẩn nút hoặc hiển thị trạng thái Permission Denied, đồng thời Backend sẽ chặn lại với mã lỗi 403 Forbidden.</a:t>
            </a:r>
          </a:p>
          <a:p>
            <a:r>
              <a:t>GỢI Ý CHUYỂN SLIDE / DEMO: Để hiện thực hóa các luồng này, nhóm đã sử dụng ngăn xếp công nghệ di động nào?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Khẳng định nền tảng công nghệ mobile tiên tiến, đồng bộ và tuân thủ chuẩn công nghiệp.</a:t>
            </a:r>
          </a:p>
          <a:p/>
          <a:p>
            <a:r>
              <a:t>LỜI THUYẾT MINH GỢI Ý:</a:t>
            </a:r>
          </a:p>
          <a:p>
            <a:r>
              <a:t>WorkSphere Mobile được xây dựng trên React Native 0.88 và React 19 mới nhất, kết hợp 100% TypeScript. Nhóm sử dụng React Navigation 7 để điều phối màn hình và phân định rạch ròi cơ chế lưu trữ bảo mật bằng Keychain cho token nhạy cảm.</a:t>
            </a:r>
          </a:p>
          <a:p/>
          <a:p>
            <a:r>
              <a:t>THỜI LƯỢNG DỰ KIẾN: 1.5 phút (PROJECT_PROPOSAL)</a:t>
            </a:r>
          </a:p>
          <a:p>
            <a:r>
              <a:t>NGƯỜI THUYẾT TRÌNH: Nguyễn Văn Cường (BIT240048) (PROPOSED_ASSIGNMENT_PENDING_USER_APPROVAL)</a:t>
            </a:r>
          </a:p>
          <a:p>
            <a:r>
              <a:t>CĂN CỨ MINH CHỨNG: mobile/package.json, mobile/android/build.gradle</a:t>
            </a:r>
          </a:p>
          <a:p>
            <a:r>
              <a:t>CÂU HỎI HỘI ĐỒNG DỰ KIẾN: Tại sao nhóm chọn React Native thay vì Flutter?</a:t>
            </a:r>
          </a:p>
          <a:p>
            <a:r>
              <a:t>CÂU TRẢ LỜI AN TOÀN: React Native cho phép tận dụng hệ sinh thái TypeScript/JavaScript đồng nhất với web, khả năng tái sử dụng tư duy component và mô hình bảo mật mạnh mẽ của cộng đồng React.</a:t>
            </a:r>
          </a:p>
          <a:p>
            <a:r>
              <a:t>GỢI Ý CHUYỂN SLIDE / DEMO: Tiếp theo, em xin giới thiệu kiến trúc phân tầng của ứng dụng di động.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cấu trúc tổ chức mã nguồn theo hướng Feature-First chuyên nghiệp.</a:t>
            </a:r>
          </a:p>
          <a:p/>
          <a:p>
            <a:r>
              <a:t>LỜI THUYẾT MINH GỢI Ý:</a:t>
            </a:r>
          </a:p>
          <a:p>
            <a:r>
              <a:t>Thay vì gom tất cả màn hình vào một thư mục screens khổng lồ, nhóm tổ chức theo mô hình Feature-First. Mỗi tính năng như Projects hay Tasks là một module khép kín chứa đầy đủ giao diện, logic hooks và API client riêng, giúp việc bảo trì vô cùng thuận tiện.</a:t>
            </a:r>
          </a:p>
          <a:p/>
          <a:p>
            <a:r>
              <a:t>THỜI LƯỢNG DỰ KIẾN: 1.5 phút (PROJECT_PROPOSAL)</a:t>
            </a:r>
          </a:p>
          <a:p>
            <a:r>
              <a:t>NGƯỜI THUYẾT TRÌNH: Nguyễn Văn Cường (BIT240048) (PROPOSED_ASSIGNMENT_PENDING_USER_APPROVAL)</a:t>
            </a:r>
          </a:p>
          <a:p>
            <a:r>
              <a:t>CĂN CỨ MINH CHỨNG: reports/stage20/mobile-development/diagrams/fig1_mobile_architecture.png</a:t>
            </a:r>
          </a:p>
          <a:p>
            <a:r>
              <a:t>CÂU HỎI HỘI ĐỒNG DỰ KIẾN: Làm thế nào để hai features chia sẻ dữ liệu với nhau?</a:t>
            </a:r>
          </a:p>
          <a:p>
            <a:r>
              <a:t>CÂU TRẢ LỜI AN TOÀN: Các features chia sẻ dữ liệu thông qua React Context tập trung ở tầng core (như AuthContext) hoặc thông qua params khi điều hướng qua React Navigation.</a:t>
            </a:r>
          </a:p>
          <a:p>
            <a:r>
              <a:t>GỢI Ý CHUYỂN SLIDE / DEMO: Tiếp theo, bạn Lê Anh Tú sẽ trình bày về cây điều hướng màn hình.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Mô tả cơ chế bảo vệ chuyển hướng tự động giữa trạng thái Auth và Non-Auth.</a:t>
            </a:r>
          </a:p>
          <a:p/>
          <a:p>
            <a:r>
              <a:t>LỜI THUYẾT MINH GỢI Ý:</a:t>
            </a:r>
          </a:p>
          <a:p>
            <a:r>
              <a:t>Sơ đồ trên thể hiện cấu trúc điều hướng phân cấp. Điểm mấu chốt là RootNavigator liên tục lắng nghe trạng thái đăng nhập. Nếu token hết hạn hoặc người dùng bấm Đăng xuất, ứng dụng tự động hủy phiên và quay về LoginScreen, chặn đứng mọi thao tác truy cập trái phép.</a:t>
            </a:r>
          </a:p>
          <a:p/>
          <a:p>
            <a:r>
              <a:t>THỜI LƯỢNG DỰ KIẾN: 1.5 phút (PROJECT_PROPOSAL)</a:t>
            </a:r>
          </a:p>
          <a:p>
            <a:r>
              <a:t>NGƯỜI THUYẾT TRÌNH: Lê Anh Tú (BIT230423) (PROPOSED_ASSIGNMENT_PENDING_USER_APPROVAL)</a:t>
            </a:r>
          </a:p>
          <a:p>
            <a:r>
              <a:t>CĂN CỨ MINH CHỨNG: mobile/src/core/navigation/RootNavigator.tsx, fig2_screen_flow.png</a:t>
            </a:r>
          </a:p>
          <a:p>
            <a:r>
              <a:t>CÂU HỎI HỘI ĐỒNG DỰ KIẾN: Tại sao không dùng điều hướng có điều kiện if-else bên trong từng màn hình?</a:t>
            </a:r>
          </a:p>
          <a:p>
            <a:r>
              <a:t>CÂU TRẢ LỜI AN TOÀN: Sử dụng RootNavigator quản lý Auth flow ở cấp cao nhất là Best Practice của React Navigation, giúp giải phóng hoàn toàn bộ nhớ của các màn hình nghiệp vụ khi đăng xuất và chống lỗi rò rỉ trạng thái.</a:t>
            </a:r>
          </a:p>
          <a:p>
            <a:r>
              <a:t>GỢI Ý CHUYỂN SLIDE / DEMO: Tiếp theo, em xin làm rõ mô hình quản lý Component và Custom Hooks trong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Làm rõ cách thức ứng dụng đạt được hiệu năng cao nhờ tách logic qua Hooks và tối ưu FlatList.</a:t>
            </a:r>
          </a:p>
          <a:p/>
          <a:p>
            <a:r>
              <a:t>LỜI THUYẾT MINH GỢI Ý:</a:t>
            </a:r>
          </a:p>
          <a:p>
            <a:r>
              <a:t>Một thách thức lớn trong lập trình React Native là hiện tượng giật lag khi cuộn danh sách dài. Nhóm đã giải quyết triệt để bài toán này bằng cách tối ưu hóa các tham số FlatList và đóng gói toàn bộ logic gọi API vào các Custom Hooks chuyên biệt.</a:t>
            </a:r>
          </a:p>
          <a:p/>
          <a:p>
            <a:r>
              <a:t>THỜI LƯỢNG DỰ KIẾN: 1.5 phút (PROJECT_PROPOSAL)</a:t>
            </a:r>
          </a:p>
          <a:p>
            <a:r>
              <a:t>NGƯỜI THUYẾT TRÌNH: Lê Anh Tú (BIT230423) (PROPOSED_ASSIGNMENT_PENDING_USER_APPROVAL)</a:t>
            </a:r>
          </a:p>
          <a:p>
            <a:r>
              <a:t>CĂN CỨ MINH CHỨNG: mobile/src/features/projects/hooks/useProjects.ts</a:t>
            </a:r>
          </a:p>
          <a:p>
            <a:r>
              <a:t>CÂU HỎI HỘI ĐỒNG DỰ KIẾN: Tại sao không dùng Redux để quản lý toàn bộ trạng thái ứng dụng?</a:t>
            </a:r>
          </a:p>
          <a:p>
            <a:r>
              <a:t>CÂU TRẢ LỜI AN TOÀN: Với quy mô của WorkSphere, việc lạm dụng Redux sẽ tạo ra rất nhiều mã boilerplate thừa. Sự kết hợp giữa React Context cho trạng thái toàn cục (Auth) và Custom Hooks cho trạng thái cục bộ là giải pháp gọn nhẹ, hiệu quả và dễ kiểm thử hơn.</a:t>
            </a:r>
          </a:p>
          <a:p>
            <a:r>
              <a:t>GỢI Ý CHUYỂN SLIDE / DEMO: Tiếp theo, bạn Hoàng Bảo Long sẽ trình bày về chu trình xác thực và bảo mật phiên làm việc.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kiến trúc bảo mật lưu trữ token đạt chuẩn enterprise trên thiết bị di động.</a:t>
            </a:r>
          </a:p>
          <a:p/>
          <a:p>
            <a:r>
              <a:t>LỜI THUYẾT MINH GỢI Ý:</a:t>
            </a:r>
          </a:p>
          <a:p>
            <a:r>
              <a:t>Bảo mật lưu trữ là điểm nhấn quan trọng nhất của WorkSphere Mobile: Access Token chỉ nằm trong RAM của ứng dụng. Khi tắt app, Access Token tự động biến mất. Refresh Token dài hạn được mã hóa bằng phần cứng trong Keychain.</a:t>
            </a:r>
          </a:p>
          <a:p/>
          <a:p>
            <a:r>
              <a:t>THỜI LƯỢNG DỰ KIẾN: 1.5 phút (PROJECT_PROPOSAL)</a:t>
            </a:r>
          </a:p>
          <a:p>
            <a:r>
              <a:t>NGƯỜI THUYẾT TRÌNH: Hoàng Bảo Long (BIT240142) (PROPOSED_ASSIGNMENT_PENDING_USER_APPROVAL)</a:t>
            </a:r>
          </a:p>
          <a:p>
            <a:r>
              <a:t>CĂN CỨ MINH CHỨNG: mobile/src/core/auth/tokenStorage.ts, mobile/src/core/auth/accessTokenStore.ts</a:t>
            </a:r>
          </a:p>
          <a:p>
            <a:r>
              <a:t>CÂU HỎI HỘI ĐỒNG DỰ KIẾN: Nếu thiết bị bị mất thì người khác có trích xuất được token từ AsyncStorage không?</a:t>
            </a:r>
          </a:p>
          <a:p>
            <a:r>
              <a:t>CÂU TRẢ LỜI AN TOÀN: Hoàn toàn không, vì nhóm tuyệt đối không lưu token vào AsyncStorage. AsyncStorage chỉ chứa các giá trị như dark/light mode hoặc ngôn ngữ.</a:t>
            </a:r>
          </a:p>
          <a:p>
            <a:r>
              <a:t>GỢI Ý CHUYỂN SLIDE / DEMO: Khi Access Token hết hạn, quá trình làm mới token tự động diễn ra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Mô tả giải thuật xử lý lỗi 401 và hàng đợi token refresh tự động bằng Axios Interceptor.</a:t>
            </a:r>
          </a:p>
          <a:p/>
          <a:p>
            <a:r>
              <a:t>LỜI THUYẾT MINH GỢI Ý:</a:t>
            </a:r>
          </a:p>
          <a:p>
            <a:r>
              <a:t>Nhờ Axios Interceptors, quá trình làm mới Access Token diễn ra hoàn toàn tự động và trong suốt với người dùng. Thuật toán hàng đợi request queue đảm bảo khi 5 API cùng gửi đi một lúc mà token hết hạn, chỉ có đúng 1 yêu cầu refresh được gửi lên máy chủ.</a:t>
            </a:r>
          </a:p>
          <a:p/>
          <a:p>
            <a:r>
              <a:t>THỜI LƯỢNG DỰ KIẾN: 1.5 phút (PROJECT_PROPOSAL)</a:t>
            </a:r>
          </a:p>
          <a:p>
            <a:r>
              <a:t>NGƯỜI THUYẾT TRÌNH: Hoàng Bảo Long (BIT240142) (PROPOSED_ASSIGNMENT_PENDING_USER_APPROVAL)</a:t>
            </a:r>
          </a:p>
          <a:p>
            <a:r>
              <a:t>CĂN CỨ MINH CHỨNG: mobile/src/core/api/apiClient.ts</a:t>
            </a:r>
          </a:p>
          <a:p>
            <a:r>
              <a:t>CÂU HỎI HỘI ĐỒNG DỰ KIẾN: Nếu mạng bị mất trong lúc đang gọi API refresh thì sao?</a:t>
            </a:r>
          </a:p>
          <a:p>
            <a:r>
              <a:t>CÂU TRẢ LỜI AN TOÀN: Axios Interceptor sẽ bắt lỗi mạng, giải phóng hàng đợi với lỗi Network Error và thông báo cho người dùng kiểm tra kết nối Internet.</a:t>
            </a:r>
          </a:p>
          <a:p>
            <a:r>
              <a:t>GỢI Ý CHUYỂN SLIDE / DEMO: Tiếp theo, bạn Lê Anh Tú sẽ giới thiệu giao diện các màn hình tiêu biểu của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chiếu các giao diện cốt lõi của ứng dụng với nhãn minh chứng chuẩn xác PROTOTYPE_REFERENCE.</a:t>
            </a:r>
          </a:p>
          <a:p/>
          <a:p>
            <a:r>
              <a:t>LỜI THUYẾT MINH GỢI Ý:</a:t>
            </a:r>
          </a:p>
          <a:p>
            <a:r>
              <a:t>Trên màn hình là hình ảnh thiết kế giao diện của LoginScreen và DashboardScreen. Nhóm lưu ý rằng các ảnh chụp này được ghi nhận với nhãn PROTOTYPE_REFERENCE, phản ánh đúng bố cục và trải nghiệm người dùng chuẩn mực trên thiết bị Android.</a:t>
            </a:r>
          </a:p>
          <a:p/>
          <a:p>
            <a:r>
              <a:t>THỜI LƯỢNG DỰ KIẾN: 1.5 phút (PROJECT_PROPOSAL)</a:t>
            </a:r>
          </a:p>
          <a:p>
            <a:r>
              <a:t>NGƯỜI THUYẾT TRÌNH: Lê Anh Tú (BIT230423) (PROPOSED_ASSIGNMENT_PENDING_USER_APPROVAL)</a:t>
            </a:r>
          </a:p>
          <a:p>
            <a:r>
              <a:t>CĂN CỨ MINH CHỨNG: reports/stage20/mobile-development/screenshots/screen_01_login.png</a:t>
            </a:r>
          </a:p>
          <a:p>
            <a:r>
              <a:t>CÂU HỎI HỘI ĐỒNG DỰ KIẾN: Ứng dụng có hỗ trợ chế độ màn hình tối (Dark Mode) không?</a:t>
            </a:r>
          </a:p>
          <a:p>
            <a:r>
              <a:t>CÂU TRẢ LỜI AN TOÀN: Hiện tại hệ thống hỗ trợ bảng màu chuẩn Light Mode tối ưu cho môi trường văn phòng, kiến trúc màu sắc đã được trừu tượng hóa trong theme provider để sẵn sàng mở rộng Dark Mode.</a:t>
            </a:r>
          </a:p>
          <a:p>
            <a:r>
              <a:t>GỢI Ý CHUYỂN SLIDE / DEMO: Để bảo đảm ứng dụng hoạt động tin cậy trong mọi tình huống mạng, nhóm đã cài đặt 4 trạng thái giao diện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Chứng minh sự hoàn thiện trong thiết kế trải nghiệm người dùng qua 4 trạng thái giao diện chuẩn mực.</a:t>
            </a:r>
          </a:p>
          <a:p/>
          <a:p>
            <a:r>
              <a:t>LỜI THUYẾT MINH GỢI Ý:</a:t>
            </a:r>
          </a:p>
          <a:p>
            <a:r>
              <a:t>Một ứng dụng di động chuyên nghiệp không bao giờ để màn hình trắng khi tải hoặc khi gặp lỗi. WorkSphere Mobile bao phủ đầy đủ 4 trạng thái: Loading, Success, Empty và Error, giúp người dùng luôn nắm bắt được trạng thái của hệ thống.</a:t>
            </a:r>
          </a:p>
          <a:p/>
          <a:p>
            <a:r>
              <a:t>THỜI LƯỢNG DỰ KIẾN: 1.5 phút (PROJECT_PROPOSAL)</a:t>
            </a:r>
          </a:p>
          <a:p>
            <a:r>
              <a:t>NGƯỜI THUYẾT TRÌNH: Lê Anh Tú (BIT230423) (PROPOSED_ASSIGNMENT_PENDING_USER_APPROVAL)</a:t>
            </a:r>
          </a:p>
          <a:p>
            <a:r>
              <a:t>CĂN CỨ MINH CHỨNG: mobile/src/shared/components/LoadingIndicator.tsx, EmptyState.tsx, ErrorBanner.tsx</a:t>
            </a:r>
          </a:p>
          <a:p>
            <a:r>
              <a:t>CÂU HỎI HỘI ĐỒNG DỰ KIẾN: Làm thế nào để người dùng thử lại khi mạng bị rớt giữa chừng?</a:t>
            </a:r>
          </a:p>
          <a:p>
            <a:r>
              <a:t>CÂU TRẢ LỜI AN TOÀN: ErrorBanner luôn đi kèm một nút bấm Thử lại (Retry Button), khi bấm sẽ kích hoạt lại hàm fetchData của Custom Hook mà không cần thoát màn hình.</a:t>
            </a:r>
          </a:p>
          <a:p>
            <a:r>
              <a:t>GỢI Ý CHUYỂN SLIDE / DEMO: Tiếp theo, bạn Vũ Thị Thu Hướng sẽ trình bày về hệ thống kiểm thử tự động của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Trưng dẫn bằng chứng thực nghiệm mạnh mẽ về độ tin cậy của mã nguồn di động qua 1,144 ca kiểm thử.</a:t>
            </a:r>
          </a:p>
          <a:p/>
          <a:p>
            <a:r>
              <a:t>LỜI THUYẾT MINH GỢI Ý:</a:t>
            </a:r>
          </a:p>
          <a:p>
            <a:r>
              <a:t>Toàn bộ mã nguồn di động được kiểm soát chất lượng bởi 129 test suites với 1,144 ca kiểm thử tự động. Nhóm kiểm thử từ các hàm tiện ích nhỏ nhất đến các luồng tương tác component phức tạp và luồng làm mới token của Axios Interceptor.</a:t>
            </a:r>
          </a:p>
          <a:p/>
          <a:p>
            <a:r>
              <a:t>THỜI LƯỢNG DỰ KIẾN: 1.5 phút (PROJECT_PROPOSAL)</a:t>
            </a:r>
          </a:p>
          <a:p>
            <a:r>
              <a:t>NGƯỜI THUYẾT TRÌNH: Vũ Thị Thu Hướng (BIT240113) (PROPOSED_ASSIGNMENT_PENDING_USER_APPROVAL)</a:t>
            </a:r>
          </a:p>
          <a:p>
            <a:r>
              <a:t>CĂN CỨ MINH CHỨNG: mobile package test scripts, 129 test suites pass</a:t>
            </a:r>
          </a:p>
          <a:p>
            <a:r>
              <a:t>CÂU HỎI HỘI ĐỒNG DỰ KIẾN: 1,144 bài test này có chạy trên điện thoại thật không?</a:t>
            </a:r>
          </a:p>
          <a:p>
            <a:r>
              <a:t>CÂU TRẢ LỜI AN TOÀN: Dạ không, đây là các bài kiểm thử tự động ở cấp độ Component và Unit Test chạy trên Node.js với môi trường mô phỏng DOM của Jest, giúp kiểm tra logic cực kỳ nhanh chóng và chính xác.</a:t>
            </a:r>
          </a:p>
          <a:p>
            <a:r>
              <a:t>GỢI Ý CHUYỂN SLIDE / DEMO: Vậy ứng dụng đã được biên dịch và kiểm chứng trên máy ảo Android như thế nào?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Trình bày năng lực biên dịch APK và khẳng định trung thực ranh giới chạy trên Android Emulator.</a:t>
            </a:r>
          </a:p>
          <a:p/>
          <a:p>
            <a:r>
              <a:t>LỜI THUYẾT MINH GỢI Ý:</a:t>
            </a:r>
          </a:p>
          <a:p>
            <a:r>
              <a:t>Ứng dụng được biên dịch tự động qua Gradle Wrapper tạo ra tệp app-debug.apk. Nhóm đã cài đặt và chạy thử nghiệm thành công trên Android Emulator API 35. Nhóm khẳng định rõ: ứng dụng chưa được kiểm chứng trên thiết bị vật lý thật và chỉ dùng debug keystore phục vụ đồ án.</a:t>
            </a:r>
          </a:p>
          <a:p/>
          <a:p>
            <a:r>
              <a:t>THỜI LƯỢNG DỰ KIẾN: 1.5 phút (PROJECT_PROPOSAL)</a:t>
            </a:r>
          </a:p>
          <a:p>
            <a:r>
              <a:t>NGƯỜI THUYẾT TRÌNH: Nguyễn Văn Cường (BIT240048) (PROPOSED_ASSIGNMENT_PENDING_USER_APPROVAL)</a:t>
            </a:r>
          </a:p>
          <a:p>
            <a:r>
              <a:t>CĂN CỨ MINH CHỨNG: mobile/android/app/build.gradle, ci.yml android-debug-build</a:t>
            </a:r>
          </a:p>
          <a:p>
            <a:r>
              <a:t>CÂU HỎI HỘI ĐỒNG DỰ KIẾN: Tại sao máy ảo Android phải kết nối qua IP 10.0.2.2 thay vì localhost?</a:t>
            </a:r>
          </a:p>
          <a:p>
            <a:r>
              <a:t>CÂU TRẢ LỜI AN TOÀN: Trong Android Emulator, localhost đại diện cho chính máy ảo; địa chỉ 10.0.2.2 là địa chỉ IP ảo được Google thiết kế riêng để máy ảo trỏ về máy tính host chạy backend.</a:t>
            </a:r>
          </a:p>
          <a:p>
            <a:r>
              <a:t>GỢI Ý CHUYỂN SLIDE / DEMO: Tiếp theo, em xin đánh giá các hạn chế và hướng phát triển tiếp theo của ứng dụng.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Thể hiện góc nhìn khoa học, nhận thức rõ các giới hạn cần bổ sung trong môi trường sản xuất.</a:t>
            </a:r>
          </a:p>
          <a:p/>
          <a:p>
            <a:r>
              <a:t>LỜI THUYẾT MINH GỢI Ý:</a:t>
            </a:r>
          </a:p>
          <a:p>
            <a:r>
              <a:t>Dù đã hoàn thành xuất sắc các yêu cầu của môn học, ứng dụng vẫn còn những hạn chế như chưa có đồng bộ dữ liệu ngoại tuyến hoàn toàn và chưa tích hợp Firebase Cloud Messaging. Nhóm đã vạch ra lộ trình nâng cấp 4 giai đoạn cụ thể để phát triển ứng dụng thành sản phẩm thương mại.</a:t>
            </a:r>
          </a:p>
          <a:p/>
          <a:p>
            <a:r>
              <a:t>THỜI LƯỢNG DỰ KIẾN: 1.5 phút (PROJECT_PROPOSAL)</a:t>
            </a:r>
          </a:p>
          <a:p>
            <a:r>
              <a:t>NGƯỜI THUYẾT TRÌNH: Nguyễn Văn Cường (BIT240048) (PROPOSED_ASSIGNMENT_PENDING_USER_APPROVAL)</a:t>
            </a:r>
          </a:p>
          <a:p>
            <a:r>
              <a:t>CĂN CỨ MINH CHỨNG: Chương 4 Báo cáo Phát triển ứng dụng di động</a:t>
            </a:r>
          </a:p>
          <a:p>
            <a:r>
              <a:t>CÂU HỎI HỘI ĐỒNG DỰ KIẾN: Nếu ứng dụng bị mất kết nối mạng đột ngột thì dữ liệu người dùng đang nhập có bị mất không?</a:t>
            </a:r>
          </a:p>
          <a:p>
            <a:r>
              <a:t>CÂU TRẢ LỜI AN TOÀN: Hiện tại biểu mẫu vẫn giữ nguyên trạng thái trên RAM của màn hình, người dùng chỉ cần bật lại kết nối và bấm gửi lại mà không bị mất dữ liệu đã nhập.</a:t>
            </a:r>
          </a:p>
          <a:p>
            <a:r>
              <a:t>GỢI Ý CHUYỂN SLIDE / DEMO: Cuối cùng, nhóm xin chuyển sang phần demo ứng dụng và hỏi đáp cùng Hội đồng.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SLIDE: Kết thúc bài thuyết trình học phần di động, mời Hội đồng theo dõi demo và đặt câu hỏi phản biện.</a:t>
            </a:r>
          </a:p>
          <a:p/>
          <a:p>
            <a:r>
              <a:t>LỜI THUYẾT MINH GỢI Ý:</a:t>
            </a:r>
          </a:p>
          <a:p>
            <a:r>
              <a:t>Bài thuyết trình học phần Phát triển ứng dụng di động của nhóm xin được khép lại. Nhóm chúng em đã sẵn sàng khởi động Android Emulator để thực hiện các kịch bản demo và trả lời câu hỏi của quý thầy cô.</a:t>
            </a:r>
          </a:p>
          <a:p/>
          <a:p>
            <a:r>
              <a:t>THỜI LƯỢNG DỰ KIẾN: 1 phút (PROJECT_PROPOSAL)</a:t>
            </a:r>
          </a:p>
          <a:p>
            <a:r>
              <a:t>NGƯỜI THUYẾT TRÌNH: Toàn thể thành viên nhóm (PROPOSED_ASSIGNMENT_PENDING_USER_APPROVAL)</a:t>
            </a:r>
          </a:p>
          <a:p>
            <a:r>
              <a:t>CĂN CỨ MINH CHỨNG: Kho mã nguồn D:\WorkSphere\mobile</a:t>
            </a:r>
          </a:p>
          <a:p>
            <a:r>
              <a:t>CÂU HỎI HỘI ĐỒNG DỰ KIẾN: Hội đồng yêu cầu chạy trực tiếp lệnh npm test trên terminal để đối soát kết quả 1,144 test.</a:t>
            </a:r>
          </a:p>
          <a:p>
            <a:r>
              <a:t>CÂU TRẢ LỜI AN TOÀN: Dạ vâng, em xin phép mở terminal tại thư mục mobile và chạy lệnh npm test để Hội đồng kiểm tra trực tiếp.</a:t>
            </a:r>
          </a:p>
          <a:p>
            <a:r>
              <a:t>GỢI Ý CHUYỂN SLIDE / DEMO: Chuyển sang phần thao tác thực nghiệm trên máy tính.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defRPr sz="1300" b="1">
                <a:solidFill>
                  <a:srgbClr val="1E88E5"/>
                </a:solidFill>
                <a:latin typeface="Arial"/>
              </a:defRPr>
            </a:pPr>
            <a:r>
              <a:t>TRƯỜNG ĐẠI HỌC CMC • KHOA CÔNG NGHỆ THÔNG TIN &amp; TRUYỀN THÔNG</a:t>
            </a:r>
          </a:p>
        </p:txBody>
      </p:sp>
      <p:sp>
        <p:nvSpPr>
          <p:cNvPr id="4" name="TextBox 3"/>
          <p:cNvSpPr txBox="1"/>
          <p:nvPr/>
        </p:nvSpPr>
        <p:spPr>
          <a:xfrm>
            <a:off x="914400" y="1371600"/>
            <a:ext cx="10362895" cy="548640"/>
          </a:xfrm>
          <a:prstGeom prst="rect">
            <a:avLst/>
          </a:prstGeom>
          <a:noFill/>
        </p:spPr>
        <p:txBody>
          <a:bodyPr wrap="none">
            <a:spAutoFit/>
          </a:bodyPr>
          <a:lstStyle/>
          <a:p>
            <a:pPr>
              <a:defRPr sz="1500" b="1">
                <a:solidFill>
                  <a:srgbClr val="80D8FF"/>
                </a:solidFill>
                <a:latin typeface="Arial"/>
              </a:defRPr>
            </a:pPr>
            <a:r>
              <a:t>BÁO CÁO BẢO VỆ HỌC PHẦN: PHÁT TRIỂN ỨNG DỤNG DI ĐỘNG</a:t>
            </a:r>
          </a:p>
        </p:txBody>
      </p:sp>
      <p:sp>
        <p:nvSpPr>
          <p:cNvPr id="5" name="TextBox 4"/>
          <p:cNvSpPr txBox="1"/>
          <p:nvPr/>
        </p:nvSpPr>
        <p:spPr>
          <a:xfrm>
            <a:off x="914400" y="2011680"/>
            <a:ext cx="10362895" cy="1463040"/>
          </a:xfrm>
          <a:prstGeom prst="rect">
            <a:avLst/>
          </a:prstGeom>
          <a:noFill/>
        </p:spPr>
        <p:txBody>
          <a:bodyPr wrap="square">
            <a:spAutoFit/>
          </a:bodyPr>
          <a:lstStyle/>
          <a:p>
            <a:pPr>
              <a:defRPr sz="3200" b="1">
                <a:solidFill>
                  <a:srgbClr val="FFFFFF"/>
                </a:solidFill>
                <a:latin typeface="Arial"/>
              </a:defRPr>
            </a:pPr>
            <a:r>
              <a:t>XÂY DỰNG ỨNG DỤNG QUẢN TRỊ DOANH NGHIỆP WORKSPHERE</a:t>
            </a:r>
            <a:br/>
            <a:r>
              <a:t>BẰNG REACT NATIVE VÀ TYPESCRIPT</a:t>
            </a:r>
          </a:p>
          <a:p>
            <a:pPr>
              <a:spcBef>
                <a:spcPts val="800"/>
              </a:spcBef>
              <a:defRPr sz="1700">
                <a:solidFill>
                  <a:srgbClr val="CFD8DC"/>
                </a:solidFill>
                <a:latin typeface="Arial"/>
              </a:defRPr>
            </a:pPr>
            <a:r>
              <a:t>Ứng dụng Di động Đa Nền tảng Cho Nhân Sự và Quản lý Doanh nghiệp</a:t>
            </a:r>
          </a:p>
        </p:txBody>
      </p:sp>
      <p:sp>
        <p:nvSpPr>
          <p:cNvPr id="6" name="TextBox 5"/>
          <p:cNvSpPr txBox="1"/>
          <p:nvPr/>
        </p:nvSpPr>
        <p:spPr>
          <a:xfrm>
            <a:off x="914400" y="4114800"/>
            <a:ext cx="10362895" cy="1828800"/>
          </a:xfrm>
          <a:prstGeom prst="rect">
            <a:avLst/>
          </a:prstGeom>
          <a:noFill/>
        </p:spPr>
        <p:txBody>
          <a:bodyPr wrap="none">
            <a:spAutoFit/>
          </a:bodyPr>
          <a:lstStyle/>
          <a:p>
            <a:pPr>
              <a:defRPr sz="1200" b="1">
                <a:solidFill>
                  <a:srgbClr val="80D8FF"/>
                </a:solidFill>
                <a:latin typeface="Arial"/>
              </a:defRPr>
            </a:pPr>
            <a:r>
              <a:t>NHÓM SINH VIÊN THỰC HIỆN (Học kỳ Fall 2026):</a:t>
            </a:r>
          </a:p>
          <a:p>
            <a:pPr>
              <a:spcBef>
                <a:spcPts val="200"/>
              </a:spcBef>
              <a:defRPr sz="1150">
                <a:solidFill>
                  <a:srgbClr val="FFFFFF"/>
                </a:solidFill>
                <a:latin typeface="Arial"/>
              </a:defRPr>
            </a:pPr>
            <a:r>
              <a:t>• Nguyễn Văn Cường (BIT240048) — Nhóm trưởng (Architecture, Navigation, State, Lead)</a:t>
            </a:r>
          </a:p>
          <a:p>
            <a:pPr>
              <a:spcBef>
                <a:spcPts val="200"/>
              </a:spcBef>
              <a:defRPr sz="1150">
                <a:solidFill>
                  <a:srgbClr val="FFFFFF"/>
                </a:solidFill>
                <a:latin typeface="Arial"/>
              </a:defRPr>
            </a:pPr>
            <a:r>
              <a:t>• Hoàng Bảo Long (BIT240142) — Thành viên (Authentication, JWT Token, Keychain Storage)</a:t>
            </a:r>
          </a:p>
          <a:p>
            <a:pPr>
              <a:spcBef>
                <a:spcPts val="200"/>
              </a:spcBef>
              <a:defRPr sz="1150">
                <a:solidFill>
                  <a:srgbClr val="FFFFFF"/>
                </a:solidFill>
                <a:latin typeface="Arial"/>
              </a:defRPr>
            </a:pPr>
            <a:r>
              <a:t>• Vũ Thị Thu Hướng (BIT240113) — Thành viên (Testing, 129 Jest Suites, 1144 Tests)</a:t>
            </a:r>
          </a:p>
          <a:p>
            <a:pPr>
              <a:spcBef>
                <a:spcPts val="200"/>
              </a:spcBef>
              <a:defRPr sz="1150">
                <a:solidFill>
                  <a:srgbClr val="FFFFFF"/>
                </a:solidFill>
                <a:latin typeface="Arial"/>
              </a:defRPr>
            </a:pPr>
            <a:r>
              <a:t>• Lê Anh Tú (BIT230423) — Thành viên (Feature Screens, UI States, FlatList Optimization)</a:t>
            </a:r>
          </a:p>
          <a:p>
            <a:pPr>
              <a:spcBef>
                <a:spcPts val="400"/>
              </a:spcBef>
              <a:defRPr sz="950" i="1">
                <a:solidFill>
                  <a:srgbClr val="B0BEC5"/>
                </a:solidFill>
                <a:latin typeface="Arial"/>
              </a:defRPr>
            </a:pPr>
            <a:r>
              <a:t>*(Trạng thái phân công: PROPOSED_ASSIGNMENT_PENDING_USER_APPROVAL — Chờ phê duyệt chính thức)*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BỐI CẢNH &amp; ĐỘNG LỰC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Bài Toán Thực Tế &amp; Phạm Vi Ứng Dụng Di Động</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2/15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Nhu Cầu Thực Tế Của Doanh Nghiệp</a:t>
            </a:r>
          </a:p>
          <a:p>
            <a:pPr>
              <a:lnSpc>
                <a:spcPct val="115000"/>
              </a:lnSpc>
              <a:spcAft>
                <a:spcPts val="400"/>
              </a:spcAft>
              <a:defRPr sz="1200">
                <a:solidFill>
                  <a:srgbClr val="212121"/>
                </a:solidFill>
                <a:latin typeface="Arial"/>
              </a:defRPr>
            </a:pPr>
            <a:r>
              <a:t>• Nhân sự thường xuyên di chuyển tại văn phòng, kho bãi hoặc công tác bên ngoài, không thể luôn mở máy tính xách tay.</a:t>
            </a:r>
          </a:p>
          <a:p>
            <a:pPr>
              <a:lnSpc>
                <a:spcPct val="115000"/>
              </a:lnSpc>
              <a:spcAft>
                <a:spcPts val="400"/>
              </a:spcAft>
              <a:defRPr sz="1200">
                <a:solidFill>
                  <a:srgbClr val="212121"/>
                </a:solidFill>
                <a:latin typeface="Arial"/>
              </a:defRPr>
            </a:pPr>
            <a:r>
              <a:t>• Nhu cầu cập nhật tiến độ công việc, gửi báo cáo sự cố hoặc phê duyệt yêu cầu nội bộ tức thì.</a:t>
            </a:r>
          </a:p>
          <a:p>
            <a:pPr>
              <a:lnSpc>
                <a:spcPct val="115000"/>
              </a:lnSpc>
              <a:spcAft>
                <a:spcPts val="400"/>
              </a:spcAft>
              <a:defRPr sz="1200">
                <a:solidFill>
                  <a:srgbClr val="212121"/>
                </a:solidFill>
                <a:latin typeface="Arial"/>
              </a:defRPr>
            </a:pPr>
            <a:r>
              <a:t>• Yêu cầu trải nghiệm di động mượt mà, khởi động nhanh, giao diện thân thiện chuẩn UX di động.</a:t>
            </a:r>
          </a:p>
          <a:p>
            <a:pPr>
              <a:lnSpc>
                <a:spcPct val="115000"/>
              </a:lnSpc>
              <a:spcAft>
                <a:spcPts val="400"/>
              </a:spcAft>
              <a:defRPr sz="1200">
                <a:solidFill>
                  <a:srgbClr val="212121"/>
                </a:solidFill>
                <a:latin typeface="Arial"/>
              </a:defRPr>
            </a:pPr>
            <a:r>
              <a:t>• Đảm bảo an toàn thông tin: Token truy cập không bị đánh cắp nếu thiết bị thất lạc.</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Phạm Vi Hệ Thống (Mobile Scope)</a:t>
            </a:r>
          </a:p>
          <a:p>
            <a:pPr>
              <a:lnSpc>
                <a:spcPct val="115000"/>
              </a:lnSpc>
              <a:spcAft>
                <a:spcPts val="400"/>
              </a:spcAft>
              <a:defRPr sz="1200">
                <a:solidFill>
                  <a:srgbClr val="212121"/>
                </a:solidFill>
                <a:latin typeface="Arial"/>
              </a:defRPr>
            </a:pPr>
            <a:r>
              <a:t>• Tổng quy mô hệ thống: 29 Màn hình chức năng được tổ chức theo module chặt chẽ.</a:t>
            </a:r>
          </a:p>
          <a:p>
            <a:pPr>
              <a:lnSpc>
                <a:spcPct val="115000"/>
              </a:lnSpc>
              <a:spcAft>
                <a:spcPts val="400"/>
              </a:spcAft>
              <a:defRPr sz="1200">
                <a:solidFill>
                  <a:srgbClr val="212121"/>
                </a:solidFill>
                <a:latin typeface="Arial"/>
              </a:defRPr>
            </a:pPr>
            <a:r>
              <a:t>• 4 Phân hệ cốt lõi hoàn chỉnh: Xác thực người dùng (Auth), Bảng điều khiển (Dashboard), Quản lý Dự án (Projects), Quản lý Công việc (Tasks).</a:t>
            </a:r>
          </a:p>
          <a:p>
            <a:pPr>
              <a:lnSpc>
                <a:spcPct val="115000"/>
              </a:lnSpc>
              <a:spcAft>
                <a:spcPts val="400"/>
              </a:spcAft>
              <a:defRPr sz="1200">
                <a:solidFill>
                  <a:srgbClr val="212121"/>
                </a:solidFill>
                <a:latin typeface="Arial"/>
              </a:defRPr>
            </a:pPr>
            <a:r>
              <a:t>• Các phân hệ mở rộng: Phiếu yêu cầu dịch vụ (Service Request), Quản lý Tài sản (Assets), Thông báo (Notifications) và Hồ sơ cá nhân (Profile).</a:t>
            </a:r>
          </a:p>
          <a:p>
            <a:pPr>
              <a:lnSpc>
                <a:spcPct val="115000"/>
              </a:lnSpc>
              <a:spcAft>
                <a:spcPts val="400"/>
              </a:spcAft>
              <a:defRPr sz="1200">
                <a:solidFill>
                  <a:srgbClr val="212121"/>
                </a:solidFill>
                <a:latin typeface="Arial"/>
              </a:defRPr>
            </a:pPr>
            <a:r>
              <a:t>• Đối tượng người dùng: Toàn bộ cán bộ nhân viên và lãnh đạo quản lý trong tổ chức.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LUỒNG TÁC VỤ NGƯỜI DÙNG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Vai Trò Người Dùng &amp; Các Luồng Nghiệp Vụ Chính</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3/15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4 Vai Trò &amp; Phân Quyền Trên Mobile</a:t>
            </a:r>
          </a:p>
          <a:p>
            <a:pPr>
              <a:lnSpc>
                <a:spcPct val="115000"/>
              </a:lnSpc>
              <a:spcAft>
                <a:spcPts val="400"/>
              </a:spcAft>
              <a:defRPr sz="1200">
                <a:solidFill>
                  <a:srgbClr val="212121"/>
                </a:solidFill>
                <a:latin typeface="Arial"/>
              </a:defRPr>
            </a:pPr>
            <a:r>
              <a:t>• `EMPLOYEE`: Xem bảng điều khiển cá nhân, cập nhật trạng thái Task được giao, tạo phiếu yêu cầu dịch vụ, theo dõi tài sản bàn giao.</a:t>
            </a:r>
          </a:p>
          <a:p>
            <a:pPr>
              <a:lnSpc>
                <a:spcPct val="115000"/>
              </a:lnSpc>
              <a:spcAft>
                <a:spcPts val="400"/>
              </a:spcAft>
              <a:defRPr sz="1200">
                <a:solidFill>
                  <a:srgbClr val="212121"/>
                </a:solidFill>
                <a:latin typeface="Arial"/>
              </a:defRPr>
            </a:pPr>
            <a:r>
              <a:t>• `TEAM_LEADER`: Xem tiến độ công việc của nhóm, phân công việc cho thành viên, phê duyệt bước đầu phiếu yêu cầu.</a:t>
            </a:r>
          </a:p>
          <a:p>
            <a:pPr>
              <a:lnSpc>
                <a:spcPct val="115000"/>
              </a:lnSpc>
              <a:spcAft>
                <a:spcPts val="400"/>
              </a:spcAft>
              <a:defRPr sz="1200">
                <a:solidFill>
                  <a:srgbClr val="212121"/>
                </a:solidFill>
                <a:latin typeface="Arial"/>
              </a:defRPr>
            </a:pPr>
            <a:r>
              <a:t>• `PROJECT_MANAGER`: Quản lý danh sách dự án, cập nhật cột mốc (Milestones), thêm/bớt nhân sự dự án, theo dõi ngân sách.</a:t>
            </a:r>
          </a:p>
          <a:p>
            <a:pPr>
              <a:lnSpc>
                <a:spcPct val="115000"/>
              </a:lnSpc>
              <a:spcAft>
                <a:spcPts val="400"/>
              </a:spcAft>
              <a:defRPr sz="1200">
                <a:solidFill>
                  <a:srgbClr val="212121"/>
                </a:solidFill>
                <a:latin typeface="Arial"/>
              </a:defRPr>
            </a:pPr>
            <a:r>
              <a:t>• `ADMIN`: Quản trị tài khoản, kiểm soát quyền truy cập hệ thống.</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Máy Trạng Thái Công Việc (Task State Machine)</a:t>
            </a:r>
          </a:p>
          <a:p>
            <a:pPr>
              <a:lnSpc>
                <a:spcPct val="115000"/>
              </a:lnSpc>
              <a:spcAft>
                <a:spcPts val="400"/>
              </a:spcAft>
              <a:defRPr sz="1200">
                <a:solidFill>
                  <a:srgbClr val="212121"/>
                </a:solidFill>
                <a:latin typeface="Arial"/>
              </a:defRPr>
            </a:pPr>
            <a:r>
              <a:t>• Chu trình trạng thái: `TODO` -&gt; `IN_PROGRESS` -&gt; `REVIEW` -&gt; `DONE` (hoặc `CANCELLED`).</a:t>
            </a:r>
          </a:p>
          <a:p>
            <a:pPr>
              <a:lnSpc>
                <a:spcPct val="115000"/>
              </a:lnSpc>
              <a:spcAft>
                <a:spcPts val="400"/>
              </a:spcAft>
              <a:defRPr sz="1200">
                <a:solidFill>
                  <a:srgbClr val="212121"/>
                </a:solidFill>
                <a:latin typeface="Arial"/>
              </a:defRPr>
            </a:pPr>
            <a:r>
              <a:t>• Ràng buộc vai trò chuyển trạng thái: Chỉ người được giao việc (`assignee`) hoặc Quản lý dự án mới được chuyển từ `TODO` sang `IN_PROGRESS`.</a:t>
            </a:r>
          </a:p>
          <a:p>
            <a:pPr>
              <a:lnSpc>
                <a:spcPct val="115000"/>
              </a:lnSpc>
              <a:spcAft>
                <a:spcPts val="400"/>
              </a:spcAft>
              <a:defRPr sz="1200">
                <a:solidFill>
                  <a:srgbClr val="212121"/>
                </a:solidFill>
                <a:latin typeface="Arial"/>
              </a:defRPr>
            </a:pPr>
            <a:r>
              <a:t>• Kiểm soát hoàn thành: Trạng thái `DONE` đòi hỏi sự xác nhận của Trưởng nhóm hoặc Người tạo việc.</a:t>
            </a:r>
          </a:p>
          <a:p>
            <a:pPr>
              <a:lnSpc>
                <a:spcPct val="115000"/>
              </a:lnSpc>
              <a:spcAft>
                <a:spcPts val="400"/>
              </a:spcAft>
              <a:defRPr sz="1200">
                <a:solidFill>
                  <a:srgbClr val="212121"/>
                </a:solidFill>
                <a:latin typeface="Arial"/>
              </a:defRPr>
            </a:pPr>
            <a:r>
              <a:t>• Xử lý ngoại lệ phân quyền: Giao diện hiển thị banner cảnh báo và khóa nút bấm nếu người dùng không đủ quyền hạn.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NỀN TẢNG CÔNG NGHỆ</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Ngăn Xếp Công Nghệ Mobile Hiện Đại (Tech Stack)</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4/15</a:t>
            </a:r>
          </a:p>
        </p:txBody>
      </p:sp>
      <p:sp>
        <p:nvSpPr>
          <p:cNvPr id="5" name="Rounded Rectangle 4"/>
          <p:cNvSpPr/>
          <p:nvPr/>
        </p:nvSpPr>
        <p:spPr>
          <a:xfrm>
            <a:off x="731520" y="1645920"/>
            <a:ext cx="32918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Framework &amp; Ngôn Ngữ</a:t>
            </a:r>
          </a:p>
          <a:p>
            <a:pPr>
              <a:lnSpc>
                <a:spcPct val="115000"/>
              </a:lnSpc>
              <a:spcAft>
                <a:spcPts val="400"/>
              </a:spcAft>
              <a:defRPr sz="1200">
                <a:solidFill>
                  <a:srgbClr val="212121"/>
                </a:solidFill>
                <a:latin typeface="Arial"/>
              </a:defRPr>
            </a:pPr>
            <a:r>
              <a:t>• React Native 0.88.0: Phiên bản kiến trúc mới hiện đại, tối ưu hóa hiệu năng render native.</a:t>
            </a:r>
          </a:p>
          <a:p>
            <a:pPr>
              <a:lnSpc>
                <a:spcPct val="115000"/>
              </a:lnSpc>
              <a:spcAft>
                <a:spcPts val="400"/>
              </a:spcAft>
              <a:defRPr sz="1200">
                <a:solidFill>
                  <a:srgbClr val="212121"/>
                </a:solidFill>
                <a:latin typeface="Arial"/>
              </a:defRPr>
            </a:pPr>
            <a:r>
              <a:t>• React 19.3.0: Tận dụng các hooks cải tiến (`useActionState`, `useOptimistic`).</a:t>
            </a:r>
          </a:p>
          <a:p>
            <a:pPr>
              <a:lnSpc>
                <a:spcPct val="115000"/>
              </a:lnSpc>
              <a:spcAft>
                <a:spcPts val="400"/>
              </a:spcAft>
              <a:defRPr sz="1200">
                <a:solidFill>
                  <a:srgbClr val="212121"/>
                </a:solidFill>
                <a:latin typeface="Arial"/>
              </a:defRPr>
            </a:pPr>
            <a:r>
              <a:t>• TypeScript 5.x: 100% mã nguồn có định kiểu nghiêm ngặt (Strict Type Safety), loại trừ lỗi runtime `undefined`.</a:t>
            </a:r>
          </a:p>
          <a:p>
            <a:pPr>
              <a:lnSpc>
                <a:spcPct val="115000"/>
              </a:lnSpc>
              <a:spcAft>
                <a:spcPts val="400"/>
              </a:spcAft>
              <a:defRPr sz="1200">
                <a:solidFill>
                  <a:srgbClr val="212121"/>
                </a:solidFill>
                <a:latin typeface="Arial"/>
              </a:defRPr>
            </a:pPr>
            <a:r>
              <a:t>• Node.js 24.19.0: Ghim cố định phiên bản môi trường qua `.node-version`.</a:t>
            </a:r>
          </a:p>
        </p:txBody>
      </p:sp>
      <p:sp>
        <p:nvSpPr>
          <p:cNvPr id="6" name="Rounded Rectangle 5"/>
          <p:cNvSpPr/>
          <p:nvPr/>
        </p:nvSpPr>
        <p:spPr>
          <a:xfrm>
            <a:off x="4389120" y="1645920"/>
            <a:ext cx="32918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Điều Hướng &amp; Giao Tiếp</a:t>
            </a:r>
          </a:p>
          <a:p>
            <a:pPr>
              <a:lnSpc>
                <a:spcPct val="115000"/>
              </a:lnSpc>
              <a:spcAft>
                <a:spcPts val="400"/>
              </a:spcAft>
              <a:defRPr sz="1200">
                <a:solidFill>
                  <a:srgbClr val="212121"/>
                </a:solidFill>
                <a:latin typeface="Arial"/>
              </a:defRPr>
            </a:pPr>
            <a:r>
              <a:t>• React Navigation 7: Bộ định tuyến phân cấp mạnh mẽ (`Root`, `Auth`, `MainTabs`).</a:t>
            </a:r>
          </a:p>
          <a:p>
            <a:pPr>
              <a:lnSpc>
                <a:spcPct val="115000"/>
              </a:lnSpc>
              <a:spcAft>
                <a:spcPts val="400"/>
              </a:spcAft>
              <a:defRPr sz="1200">
                <a:solidFill>
                  <a:srgbClr val="212121"/>
                </a:solidFill>
                <a:latin typeface="Arial"/>
              </a:defRPr>
            </a:pPr>
            <a:r>
              <a:t>• Axios Client: Cấu hình interceptors tự động gắn JWT và xử lý làm mới token (Token Refresh).</a:t>
            </a:r>
          </a:p>
          <a:p>
            <a:pPr>
              <a:lnSpc>
                <a:spcPct val="115000"/>
              </a:lnSpc>
              <a:spcAft>
                <a:spcPts val="400"/>
              </a:spcAft>
              <a:defRPr sz="1200">
                <a:solidFill>
                  <a:srgbClr val="212121"/>
                </a:solidFill>
                <a:latin typeface="Arial"/>
              </a:defRPr>
            </a:pPr>
            <a:r>
              <a:t>• React Native Safe Area Context: Đảm bảo giao diện hiển thị chuẩn xác trên thiết bị có tai thỏ (Notch / Dynamic Island).</a:t>
            </a:r>
          </a:p>
          <a:p>
            <a:pPr>
              <a:lnSpc>
                <a:spcPct val="115000"/>
              </a:lnSpc>
              <a:spcAft>
                <a:spcPts val="400"/>
              </a:spcAft>
              <a:defRPr sz="1200">
                <a:solidFill>
                  <a:srgbClr val="212121"/>
                </a:solidFill>
                <a:latin typeface="Arial"/>
              </a:defRPr>
            </a:pPr>
            <a:r>
              <a:t>• Vector Icons: Bộ biểu tượng chuẩn hóa, đồng bộ phong cách thiết kế.</a:t>
            </a:r>
          </a:p>
        </p:txBody>
      </p:sp>
      <p:sp>
        <p:nvSpPr>
          <p:cNvPr id="7" name="Rounded Rectangle 6"/>
          <p:cNvSpPr/>
          <p:nvPr/>
        </p:nvSpPr>
        <p:spPr>
          <a:xfrm>
            <a:off x="8046720" y="1645920"/>
            <a:ext cx="32918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Bảo Mật &amp; Kiểm Thử</a:t>
            </a:r>
          </a:p>
          <a:p>
            <a:pPr>
              <a:lnSpc>
                <a:spcPct val="115000"/>
              </a:lnSpc>
              <a:spcAft>
                <a:spcPts val="400"/>
              </a:spcAft>
              <a:defRPr sz="1200">
                <a:solidFill>
                  <a:srgbClr val="212121"/>
                </a:solidFill>
                <a:latin typeface="Arial"/>
              </a:defRPr>
            </a:pPr>
            <a:r>
              <a:t>• React Native Keychain: Lưu trữ Refresh Token vào vùng nhớ mã hóa phần cứng an toàn.</a:t>
            </a:r>
          </a:p>
          <a:p>
            <a:pPr>
              <a:lnSpc>
                <a:spcPct val="115000"/>
              </a:lnSpc>
              <a:spcAft>
                <a:spcPts val="400"/>
              </a:spcAft>
              <a:defRPr sz="1200">
                <a:solidFill>
                  <a:srgbClr val="212121"/>
                </a:solidFill>
                <a:latin typeface="Arial"/>
              </a:defRPr>
            </a:pPr>
            <a:r>
              <a:t>• AsyncStorage: Chỉ lưu trữ các cài đặt giao diện không nhạy cảm (Theme, Ngôn ngữ).</a:t>
            </a:r>
          </a:p>
          <a:p>
            <a:pPr>
              <a:lnSpc>
                <a:spcPct val="115000"/>
              </a:lnSpc>
              <a:spcAft>
                <a:spcPts val="400"/>
              </a:spcAft>
              <a:defRPr sz="1200">
                <a:solidFill>
                  <a:srgbClr val="212121"/>
                </a:solidFill>
                <a:latin typeface="Arial"/>
              </a:defRPr>
            </a:pPr>
            <a:r>
              <a:t>• Jest 29 &amp; React Native Testing Library: 129 test suites bảo đảm chất lượng toàn diện.</a:t>
            </a:r>
          </a:p>
          <a:p>
            <a:pPr>
              <a:lnSpc>
                <a:spcPct val="115000"/>
              </a:lnSpc>
              <a:spcAft>
                <a:spcPts val="400"/>
              </a:spcAft>
              <a:defRPr sz="1200">
                <a:solidFill>
                  <a:srgbClr val="212121"/>
                </a:solidFill>
                <a:latin typeface="Arial"/>
              </a:defRPr>
            </a:pPr>
            <a:r>
              <a:t>• Android SDK: compileSdk 37, targetSdk 36, minSdk 24 (Hỗ trợ Android 7.0 đến Android 15/16).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KIẾN TRÚC MÃ NGUỒN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Kiến Trúc Ứng Dụng Di Động: Phân Tầng Tính Năng (Feature-First)</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5/15</a:t>
            </a:r>
          </a:p>
        </p:txBody>
      </p:sp>
      <p:pic>
        <p:nvPicPr>
          <p:cNvPr id="5" name="Picture 4" descr="fig1_mobile_architecture.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Trúc Thư Mục Feature-First</a:t>
            </a:r>
          </a:p>
          <a:p>
            <a:pPr>
              <a:lnSpc>
                <a:spcPct val="115000"/>
              </a:lnSpc>
              <a:spcAft>
                <a:spcPts val="400"/>
              </a:spcAft>
              <a:defRPr sz="1200">
                <a:solidFill>
                  <a:srgbClr val="212121"/>
                </a:solidFill>
                <a:latin typeface="Arial"/>
              </a:defRPr>
            </a:pPr>
            <a:r>
              <a:t>• `mobile/src/features/`: Chia theo từng miền nghiệp vụ riêng biệt (`auth`, `dashboard`, `projects`, `tasks`, `assets`, `requests`).</a:t>
            </a:r>
          </a:p>
          <a:p>
            <a:pPr>
              <a:lnSpc>
                <a:spcPct val="115000"/>
              </a:lnSpc>
              <a:spcAft>
                <a:spcPts val="400"/>
              </a:spcAft>
              <a:defRPr sz="1200">
                <a:solidFill>
                  <a:srgbClr val="212121"/>
                </a:solidFill>
                <a:latin typeface="Arial"/>
              </a:defRPr>
            </a:pPr>
            <a:r>
              <a:t>• Mỗi Feature bao gồm: `screens/`, `components/`, `hooks/`, `types/`, `api/` độc lập.</a:t>
            </a:r>
          </a:p>
          <a:p>
            <a:pPr>
              <a:lnSpc>
                <a:spcPct val="115000"/>
              </a:lnSpc>
              <a:spcAft>
                <a:spcPts val="400"/>
              </a:spcAft>
              <a:defRPr sz="1200">
                <a:solidFill>
                  <a:srgbClr val="212121"/>
                </a:solidFill>
                <a:latin typeface="Arial"/>
              </a:defRPr>
            </a:pPr>
            <a:r>
              <a:t>• `mobile/src/shared/`: Chứa các thành phần dùng chung toàn ứng dụng (Buttons, Inputs, Cards, Dialogs, Modals, Formatters).</a:t>
            </a:r>
          </a:p>
          <a:p>
            <a:pPr>
              <a:lnSpc>
                <a:spcPct val="115000"/>
              </a:lnSpc>
              <a:spcAft>
                <a:spcPts val="400"/>
              </a:spcAft>
              <a:defRPr sz="1200">
                <a:solidFill>
                  <a:srgbClr val="212121"/>
                </a:solidFill>
                <a:latin typeface="Arial"/>
              </a:defRPr>
            </a:pPr>
            <a:r>
              <a:t>• `mobile/src/core/`: Chứa cấu hình nền tảng: Axios client, AuthContext, Storage, Navigation Containers.</a:t>
            </a:r>
          </a:p>
          <a:p>
            <a:pPr>
              <a:lnSpc>
                <a:spcPct val="115000"/>
              </a:lnSpc>
              <a:spcAft>
                <a:spcPts val="400"/>
              </a:spcAft>
              <a:defRPr sz="1200">
                <a:solidFill>
                  <a:srgbClr val="212121"/>
                </a:solidFill>
                <a:latin typeface="Arial"/>
              </a:defRPr>
            </a:pPr>
            <a:r>
              <a:t>• Lợi ích: Dễ mở rộng tính năng mới mà không sợ ảnh hưởng đến các màn hình đang chạy ổn định.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CÂY ĐIỀU HƯỚNG MÀN HÌNH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Sơ Đồ Điều Hướng Phân Cấp (React Navigation 7)</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6/15</a:t>
            </a:r>
          </a:p>
        </p:txBody>
      </p:sp>
      <p:pic>
        <p:nvPicPr>
          <p:cNvPr id="5" name="Picture 4" descr="fig2_screen_flow.png"/>
          <p:cNvPicPr>
            <a:picLocks noChangeAspect="1"/>
          </p:cNvPicPr>
          <p:nvPr/>
        </p:nvPicPr>
        <p:blipFill>
          <a:blip r:embed="rId2"/>
          <a:stretch>
            <a:fillRect/>
          </a:stretch>
        </p:blipFill>
        <p:spPr>
          <a:xfrm>
            <a:off x="731520" y="1645920"/>
            <a:ext cx="6217920" cy="4389120"/>
          </a:xfrm>
          <a:prstGeom prst="rect">
            <a:avLst/>
          </a:prstGeom>
        </p:spPr>
      </p:pic>
      <p:sp>
        <p:nvSpPr>
          <p:cNvPr id="6" name="Rounded Rectangle 5"/>
          <p:cNvSpPr/>
          <p:nvPr/>
        </p:nvSpPr>
        <p:spPr>
          <a:xfrm>
            <a:off x="7132320" y="1645920"/>
            <a:ext cx="429768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Trúc Điều Hướng 3 Cấp</a:t>
            </a:r>
          </a:p>
          <a:p>
            <a:pPr>
              <a:lnSpc>
                <a:spcPct val="115000"/>
              </a:lnSpc>
              <a:spcAft>
                <a:spcPts val="400"/>
              </a:spcAft>
              <a:defRPr sz="1200">
                <a:solidFill>
                  <a:srgbClr val="212121"/>
                </a:solidFill>
                <a:latin typeface="Arial"/>
              </a:defRPr>
            </a:pPr>
            <a:r>
              <a:t>• Cấp 1 - RootNavigator: Bộ điều hướng gốc kiểm tra trạng thái xác thực `isAuthenticated` từ `AuthContext`.</a:t>
            </a:r>
          </a:p>
          <a:p>
            <a:pPr>
              <a:lnSpc>
                <a:spcPct val="115000"/>
              </a:lnSpc>
              <a:spcAft>
                <a:spcPts val="400"/>
              </a:spcAft>
              <a:defRPr sz="1200">
                <a:solidFill>
                  <a:srgbClr val="212121"/>
                </a:solidFill>
                <a:latin typeface="Arial"/>
              </a:defRPr>
            </a:pPr>
            <a:r>
              <a:t>• Cấp 2 - AuthNavigator (Stack): Khi chưa đăng nhập, chỉ mở các màn hình: `LoginScreen`, `ForgotPasswordScreen`, `ResetPasswordScreen`.</a:t>
            </a:r>
          </a:p>
          <a:p>
            <a:pPr>
              <a:lnSpc>
                <a:spcPct val="115000"/>
              </a:lnSpc>
              <a:spcAft>
                <a:spcPts val="400"/>
              </a:spcAft>
              <a:defRPr sz="1200">
                <a:solidFill>
                  <a:srgbClr val="212121"/>
                </a:solidFill>
                <a:latin typeface="Arial"/>
              </a:defRPr>
            </a:pPr>
            <a:r>
              <a:t>• Cấp 2 - MainTabNavigator (Bottom Tabs): Khi đã đăng nhập, mở thanh điều hướng dưới gồm 4 tab chính: `Dashboard`, `Projects`, `Tasks`, `More`.</a:t>
            </a:r>
          </a:p>
          <a:p>
            <a:pPr>
              <a:lnSpc>
                <a:spcPct val="115000"/>
              </a:lnSpc>
              <a:spcAft>
                <a:spcPts val="400"/>
              </a:spcAft>
              <a:defRPr sz="1200">
                <a:solidFill>
                  <a:srgbClr val="212121"/>
                </a:solidFill>
                <a:latin typeface="Arial"/>
              </a:defRPr>
            </a:pPr>
            <a:r>
              <a:t>• Cấp 3 - Feature Stacks: Mỗi tab chứa một Stack Navigator riêng để điều hướng vào chi tiết (ví dụ: `ProjectDetailScreen`, `CreateTaskScreen`).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QUẢN TRỊ STATE &amp; UI</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Mô Hình Component &amp; Quản Lý Trạng Thái (Custom Hooks)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7/15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Tách Biệt UI &amp; Business Logic</a:t>
            </a:r>
          </a:p>
          <a:p>
            <a:pPr>
              <a:lnSpc>
                <a:spcPct val="115000"/>
              </a:lnSpc>
              <a:spcAft>
                <a:spcPts val="400"/>
              </a:spcAft>
              <a:defRPr sz="1200">
                <a:solidFill>
                  <a:srgbClr val="212121"/>
                </a:solidFill>
                <a:latin typeface="Arial"/>
              </a:defRPr>
            </a:pPr>
            <a:r>
              <a:t>• Nguyên tắc Presentational &amp; Container Components: Màn hình UI chỉ tập trung hiển thị giao diện và nhận tương tác, toàn bộ logic lấy dữ liệu được đóng gói trong Custom Hooks.</a:t>
            </a:r>
          </a:p>
          <a:p>
            <a:pPr>
              <a:lnSpc>
                <a:spcPct val="115000"/>
              </a:lnSpc>
              <a:spcAft>
                <a:spcPts val="400"/>
              </a:spcAft>
              <a:defRPr sz="1200">
                <a:solidFill>
                  <a:srgbClr val="212121"/>
                </a:solidFill>
                <a:latin typeface="Arial"/>
              </a:defRPr>
            </a:pPr>
            <a:r>
              <a:t>• Custom Hook `useProjects`: Quản lý danh sách dự án, lọc theo trạng thái, tìm kiếm, phân trang và cơ chế kéo để làm mới (Pull-to-refresh).</a:t>
            </a:r>
          </a:p>
          <a:p>
            <a:pPr>
              <a:lnSpc>
                <a:spcPct val="115000"/>
              </a:lnSpc>
              <a:spcAft>
                <a:spcPts val="400"/>
              </a:spcAft>
              <a:defRPr sz="1200">
                <a:solidFill>
                  <a:srgbClr val="212121"/>
                </a:solidFill>
                <a:latin typeface="Arial"/>
              </a:defRPr>
            </a:pPr>
            <a:r>
              <a:t>• Custom Hook `useTasks`: Quản lý tác vụ, cập nhật trạng thái lạc quan (Optimistic UI update) mang lại trải nghiệm phản hồi tức thì.</a:t>
            </a:r>
          </a:p>
          <a:p>
            <a:pPr>
              <a:lnSpc>
                <a:spcPct val="115000"/>
              </a:lnSpc>
              <a:spcAft>
                <a:spcPts val="400"/>
              </a:spcAft>
              <a:defRPr sz="1200">
                <a:solidFill>
                  <a:srgbClr val="212121"/>
                </a:solidFill>
                <a:latin typeface="Arial"/>
              </a:defRPr>
            </a:pPr>
            <a:r>
              <a:t>• Tối ưu hóa re-render: Sử dụng `useCallback` và `useMemo` cho các hàm xử lý sự kiện và danh sách lọc phức tạp.</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Tối Ưu Hóa Danh Sách Với FlatList</a:t>
            </a:r>
          </a:p>
          <a:p>
            <a:pPr>
              <a:lnSpc>
                <a:spcPct val="115000"/>
              </a:lnSpc>
              <a:spcAft>
                <a:spcPts val="400"/>
              </a:spcAft>
              <a:defRPr sz="1200">
                <a:solidFill>
                  <a:srgbClr val="212121"/>
                </a:solidFill>
                <a:latin typeface="Arial"/>
              </a:defRPr>
            </a:pPr>
            <a:r>
              <a:t>• Sử dụng `FlatList` thay cho `ScrollView` đối với toàn bộ danh sách dữ liệu có khả năng mở rộng.</a:t>
            </a:r>
          </a:p>
          <a:p>
            <a:pPr>
              <a:lnSpc>
                <a:spcPct val="115000"/>
              </a:lnSpc>
              <a:spcAft>
                <a:spcPts val="400"/>
              </a:spcAft>
              <a:defRPr sz="1200">
                <a:solidFill>
                  <a:srgbClr val="212121"/>
                </a:solidFill>
                <a:latin typeface="Arial"/>
              </a:defRPr>
            </a:pPr>
            <a:r>
              <a:t>• Thuộc tính `keyExtractor`: Luôn sử dụng mã định danh UUID duy nhất của phần tử (`item.id`).</a:t>
            </a:r>
          </a:p>
          <a:p>
            <a:pPr>
              <a:lnSpc>
                <a:spcPct val="115000"/>
              </a:lnSpc>
              <a:spcAft>
                <a:spcPts val="400"/>
              </a:spcAft>
              <a:defRPr sz="1200">
                <a:solidFill>
                  <a:srgbClr val="212121"/>
                </a:solidFill>
                <a:latin typeface="Arial"/>
              </a:defRPr>
            </a:pPr>
            <a:r>
              <a:t>• Thuộc tính `initialNumToRender={10}`: Chỉ render đủ số lượng phần tử lấp đầy màn hình đầu tiên, rút ngắn thời gian mở màn hình.</a:t>
            </a:r>
          </a:p>
          <a:p>
            <a:pPr>
              <a:lnSpc>
                <a:spcPct val="115000"/>
              </a:lnSpc>
              <a:spcAft>
                <a:spcPts val="400"/>
              </a:spcAft>
              <a:defRPr sz="1200">
                <a:solidFill>
                  <a:srgbClr val="212121"/>
                </a:solidFill>
                <a:latin typeface="Arial"/>
              </a:defRPr>
            </a:pPr>
            <a:r>
              <a:t>• `maxToRenderPerBatch={10}` &amp; `windowSize={5}`: Giảm thiểu dung lượng chiếm dụng bộ nhớ RAM của thiết bị di động.</a:t>
            </a:r>
          </a:p>
          <a:p>
            <a:pPr>
              <a:lnSpc>
                <a:spcPct val="115000"/>
              </a:lnSpc>
              <a:spcAft>
                <a:spcPts val="400"/>
              </a:spcAft>
              <a:defRPr sz="1200">
                <a:solidFill>
                  <a:srgbClr val="212121"/>
                </a:solidFill>
                <a:latin typeface="Arial"/>
              </a:defRPr>
            </a:pPr>
            <a:r>
              <a:t>• Hỗ trợ `RefreshControl`: Kéo vuốt để tải dữ liệu mới nhất một cách mượt mà.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AN TOÀN PHIÊN LÀM VIỆC</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Xác Thực Bảo Mật &amp; Vòng Đời Token Hai Lớp (Two-Tier Tokens)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8/15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Cơ Chế Hai Loại Token (Two-Tier Tokens)</a:t>
            </a:r>
          </a:p>
          <a:p>
            <a:pPr>
              <a:lnSpc>
                <a:spcPct val="115000"/>
              </a:lnSpc>
              <a:spcAft>
                <a:spcPts val="400"/>
              </a:spcAft>
              <a:defRPr sz="1200">
                <a:solidFill>
                  <a:srgbClr val="212121"/>
                </a:solidFill>
                <a:latin typeface="Arial"/>
              </a:defRPr>
            </a:pPr>
            <a:r>
              <a:t>• Access Token (Ngắn hạn - 15 phút): Sử dụng để ký thực thi các request API thông thường qua Header `Authorization: Bearer &lt;token&gt;`.</a:t>
            </a:r>
          </a:p>
          <a:p>
            <a:pPr>
              <a:lnSpc>
                <a:spcPct val="115000"/>
              </a:lnSpc>
              <a:spcAft>
                <a:spcPts val="400"/>
              </a:spcAft>
              <a:defRPr sz="1200">
                <a:solidFill>
                  <a:srgbClr val="212121"/>
                </a:solidFill>
                <a:latin typeface="Arial"/>
              </a:defRPr>
            </a:pPr>
            <a:r>
              <a:t>• Refresh Token (Dài hạn - 7 ngày): Sử dụng duy nhất cho mục đích cấp phát lại Access Token mới khi Access Token cũ hết hạn.</a:t>
            </a:r>
          </a:p>
          <a:p>
            <a:pPr>
              <a:lnSpc>
                <a:spcPct val="115000"/>
              </a:lnSpc>
              <a:spcAft>
                <a:spcPts val="400"/>
              </a:spcAft>
              <a:defRPr sz="1200">
                <a:solidFill>
                  <a:srgbClr val="212121"/>
                </a:solidFill>
                <a:latin typeface="Arial"/>
              </a:defRPr>
            </a:pPr>
            <a:r>
              <a:t>• Nguyên tắc phân tầng lưu trữ bảo mật (Storage Fact):</a:t>
            </a:r>
          </a:p>
          <a:p>
            <a:pPr>
              <a:lnSpc>
                <a:spcPct val="115000"/>
              </a:lnSpc>
              <a:spcAft>
                <a:spcPts val="400"/>
              </a:spcAft>
              <a:defRPr sz="1200">
                <a:solidFill>
                  <a:srgbClr val="212121"/>
                </a:solidFill>
                <a:latin typeface="Arial"/>
              </a:defRPr>
            </a:pPr>
            <a:r>
              <a:t>• • Access Token: Lưu trữ DUY NHẤT trong biến bộ nhớ RAM (`accessTokenStore`), tuyệt đối KHÔNG ghi xuống đĩa.</a:t>
            </a:r>
          </a:p>
          <a:p>
            <a:pPr>
              <a:lnSpc>
                <a:spcPct val="115000"/>
              </a:lnSpc>
              <a:spcAft>
                <a:spcPts val="400"/>
              </a:spcAft>
              <a:defRPr sz="1200">
                <a:solidFill>
                  <a:srgbClr val="212121"/>
                </a:solidFill>
                <a:latin typeface="Arial"/>
              </a:defRPr>
            </a:pPr>
            <a:r>
              <a:t>• • Refresh Token: Lưu trữ trong React Native Keychain (Mã hóa phần cứng an toàn).</a:t>
            </a:r>
          </a:p>
          <a:p>
            <a:pPr>
              <a:lnSpc>
                <a:spcPct val="115000"/>
              </a:lnSpc>
              <a:spcAft>
                <a:spcPts val="400"/>
              </a:spcAft>
              <a:defRPr sz="1200">
                <a:solidFill>
                  <a:srgbClr val="212121"/>
                </a:solidFill>
                <a:latin typeface="Arial"/>
              </a:defRPr>
            </a:pPr>
            <a:r>
              <a:t>• • AsyncStorage: Chỉ dùng lưu cài đặt giao diện không nhạy cảm.</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Lợi Ích Bảo Mật Vượt Trội</a:t>
            </a:r>
          </a:p>
          <a:p>
            <a:pPr>
              <a:lnSpc>
                <a:spcPct val="115000"/>
              </a:lnSpc>
              <a:spcAft>
                <a:spcPts val="400"/>
              </a:spcAft>
              <a:defRPr sz="1200">
                <a:solidFill>
                  <a:srgbClr val="212121"/>
                </a:solidFill>
                <a:latin typeface="Arial"/>
              </a:defRPr>
            </a:pPr>
            <a:r>
              <a:t>• Chống tấn công đánh cắp dữ liệu lưu trữ (Storage Extraction): Ngay cả khi thiết bị Android bị root hoặc bị trích xuất dữ liệu, kẻ tấn công cũng không thể lấy được Access Token vì nó nằm trong RAM.</a:t>
            </a:r>
          </a:p>
          <a:p>
            <a:pPr>
              <a:lnSpc>
                <a:spcPct val="115000"/>
              </a:lnSpc>
              <a:spcAft>
                <a:spcPts val="400"/>
              </a:spcAft>
              <a:defRPr sz="1200">
                <a:solidFill>
                  <a:srgbClr val="212121"/>
                </a:solidFill>
                <a:latin typeface="Arial"/>
              </a:defRPr>
            </a:pPr>
            <a:r>
              <a:t>• Giới hạn vùng ảnh hưởng (Blast Radius): Nếu Access Token vô tình bị lộ trong đường truyền mạng, nó sẽ tự động vô giá trị sau tối đa 15 phút.</a:t>
            </a:r>
          </a:p>
          <a:p>
            <a:pPr>
              <a:lnSpc>
                <a:spcPct val="115000"/>
              </a:lnSpc>
              <a:spcAft>
                <a:spcPts val="400"/>
              </a:spcAft>
              <a:defRPr sz="1200">
                <a:solidFill>
                  <a:srgbClr val="212121"/>
                </a:solidFill>
                <a:latin typeface="Arial"/>
              </a:defRPr>
            </a:pPr>
            <a:r>
              <a:t>• Thu hồi quyền tức thì (Revocation): Quản trị viên có thể hủy Refresh Token trên máy chủ để chấm dứt ngay phiên làm việc của nhân sự nghỉ việc.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TÍCH HỢP MẠNG &amp; TỰ ĐỘNG HÓA</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Giao Tiếp API &amp; Cơ Chế Tự Động Làm Mới Token (Axios Interceptors)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9/15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Cấu Hình Axios Interceptor Hai Chiều</a:t>
            </a:r>
          </a:p>
          <a:p>
            <a:pPr>
              <a:lnSpc>
                <a:spcPct val="115000"/>
              </a:lnSpc>
              <a:spcAft>
                <a:spcPts val="400"/>
              </a:spcAft>
              <a:defRPr sz="1200">
                <a:solidFill>
                  <a:srgbClr val="212121"/>
                </a:solidFill>
                <a:latin typeface="Arial"/>
              </a:defRPr>
            </a:pPr>
            <a:r>
              <a:t>• Request Interceptor: Tự động kiểm tra bộ nhớ RAM và đính kèm `Authorization: Bearer &lt;token&gt;` vào mọi yêu cầu gửi đi.</a:t>
            </a:r>
          </a:p>
          <a:p>
            <a:pPr>
              <a:lnSpc>
                <a:spcPct val="115000"/>
              </a:lnSpc>
              <a:spcAft>
                <a:spcPts val="400"/>
              </a:spcAft>
              <a:defRPr sz="1200">
                <a:solidFill>
                  <a:srgbClr val="212121"/>
                </a:solidFill>
                <a:latin typeface="Arial"/>
              </a:defRPr>
            </a:pPr>
            <a:r>
              <a:t>• Response Interceptor: Lắng nghe phản hồi từ máy chủ; khi gặp lỗi HTTP 401 Unauthorized, tự động kích hoạt luồng khôi phục.</a:t>
            </a:r>
          </a:p>
          <a:p>
            <a:pPr>
              <a:lnSpc>
                <a:spcPct val="115000"/>
              </a:lnSpc>
              <a:spcAft>
                <a:spcPts val="400"/>
              </a:spcAft>
              <a:defRPr sz="1200">
                <a:solidFill>
                  <a:srgbClr val="212121"/>
                </a:solidFill>
                <a:latin typeface="Arial"/>
              </a:defRPr>
            </a:pPr>
            <a:r>
              <a:t>• Hàng đợi yêu cầu (Request Queue): Khi đang gọi API refresh, các request gửi đi đồng thời sẽ được đưa vào hàng đợi chờ, không gây bùng nổ nhiều yêu cầu refresh trùng lặp.</a:t>
            </a:r>
          </a:p>
          <a:p>
            <a:pPr>
              <a:lnSpc>
                <a:spcPct val="115000"/>
              </a:lnSpc>
              <a:spcAft>
                <a:spcPts val="400"/>
              </a:spcAft>
              <a:defRPr sz="1200">
                <a:solidFill>
                  <a:srgbClr val="212121"/>
                </a:solidFill>
                <a:latin typeface="Arial"/>
              </a:defRPr>
            </a:pPr>
            <a:r>
              <a:t>• Trong suốt với người dùng (Transparent UX): Người dùng không hề nhận biết Access Token vừa hết hạn; thao tác vẫn diễn ra liền mạch.</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Chu Trình Xử Lý Sự Cố 401</a:t>
            </a:r>
          </a:p>
          <a:p>
            <a:pPr>
              <a:lnSpc>
                <a:spcPct val="115000"/>
              </a:lnSpc>
              <a:spcAft>
                <a:spcPts val="400"/>
              </a:spcAft>
              <a:defRPr sz="1200">
                <a:solidFill>
                  <a:srgbClr val="212121"/>
                </a:solidFill>
                <a:latin typeface="Arial"/>
              </a:defRPr>
            </a:pPr>
            <a:r>
              <a:t>• 1. API trả về mã lỗi 401 Unauthorized do token hết hạn.</a:t>
            </a:r>
          </a:p>
          <a:p>
            <a:pPr>
              <a:lnSpc>
                <a:spcPct val="115000"/>
              </a:lnSpc>
              <a:spcAft>
                <a:spcPts val="400"/>
              </a:spcAft>
              <a:defRPr sz="1200">
                <a:solidFill>
                  <a:srgbClr val="212121"/>
                </a:solidFill>
                <a:latin typeface="Arial"/>
              </a:defRPr>
            </a:pPr>
            <a:r>
              <a:t>• 2. Interceptor giữ lại request lỗi ban đầu (Failed Request).</a:t>
            </a:r>
          </a:p>
          <a:p>
            <a:pPr>
              <a:lnSpc>
                <a:spcPct val="115000"/>
              </a:lnSpc>
              <a:spcAft>
                <a:spcPts val="400"/>
              </a:spcAft>
              <a:defRPr sz="1200">
                <a:solidFill>
                  <a:srgbClr val="212121"/>
                </a:solidFill>
                <a:latin typeface="Arial"/>
              </a:defRPr>
            </a:pPr>
            <a:r>
              <a:t>• 3. Đọc Refresh Token từ Keychain và gọi `/api/v1/auth/refresh`.</a:t>
            </a:r>
          </a:p>
          <a:p>
            <a:pPr>
              <a:lnSpc>
                <a:spcPct val="115000"/>
              </a:lnSpc>
              <a:spcAft>
                <a:spcPts val="400"/>
              </a:spcAft>
              <a:defRPr sz="1200">
                <a:solidFill>
                  <a:srgbClr val="212121"/>
                </a:solidFill>
                <a:latin typeface="Arial"/>
              </a:defRPr>
            </a:pPr>
            <a:r>
              <a:t>• 4. Nhận Access Token mới và lưu vào RAM `accessTokenStore`.</a:t>
            </a:r>
          </a:p>
          <a:p>
            <a:pPr>
              <a:lnSpc>
                <a:spcPct val="115000"/>
              </a:lnSpc>
              <a:spcAft>
                <a:spcPts val="400"/>
              </a:spcAft>
              <a:defRPr sz="1200">
                <a:solidFill>
                  <a:srgbClr val="212121"/>
                </a:solidFill>
                <a:latin typeface="Arial"/>
              </a:defRPr>
            </a:pPr>
            <a:r>
              <a:t>• 5. Thực hiện lại request ban đầu với token mới (Retry Request).</a:t>
            </a:r>
          </a:p>
          <a:p>
            <a:pPr>
              <a:lnSpc>
                <a:spcPct val="115000"/>
              </a:lnSpc>
              <a:spcAft>
                <a:spcPts val="400"/>
              </a:spcAft>
              <a:defRPr sz="1200">
                <a:solidFill>
                  <a:srgbClr val="212121"/>
                </a:solidFill>
                <a:latin typeface="Arial"/>
              </a:defRPr>
            </a:pPr>
            <a:r>
              <a:t>• 6. Trường hợp ngoại lệ: Nếu Refresh Token cũng hết hạn (7 ngày), tự động xóa sạch dữ liệu và chuyển về `LoginScreen`.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MINH HỌA GIAO DIỆN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Giao Diện Màn Hình Mẫu Đại Diện (Screenshots &amp; Prototype)</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10/15</a:t>
            </a:r>
          </a:p>
        </p:txBody>
      </p:sp>
      <p:pic>
        <p:nvPicPr>
          <p:cNvPr id="5" name="Picture 4" descr="screen_01_login.png"/>
          <p:cNvPicPr>
            <a:picLocks noChangeAspect="1"/>
          </p:cNvPicPr>
          <p:nvPr/>
        </p:nvPicPr>
        <p:blipFill>
          <a:blip r:embed="rId2"/>
          <a:stretch>
            <a:fillRect/>
          </a:stretch>
        </p:blipFill>
        <p:spPr>
          <a:xfrm>
            <a:off x="731520" y="1645920"/>
            <a:ext cx="2286000" cy="4389120"/>
          </a:xfrm>
          <a:prstGeom prst="rect">
            <a:avLst/>
          </a:prstGeom>
        </p:spPr>
      </p:pic>
      <p:pic>
        <p:nvPicPr>
          <p:cNvPr id="6" name="Picture 5" descr="screen_02_dashboard.png"/>
          <p:cNvPicPr>
            <a:picLocks noChangeAspect="1"/>
          </p:cNvPicPr>
          <p:nvPr/>
        </p:nvPicPr>
        <p:blipFill>
          <a:blip r:embed="rId3"/>
          <a:stretch>
            <a:fillRect/>
          </a:stretch>
        </p:blipFill>
        <p:spPr>
          <a:xfrm>
            <a:off x="3291840" y="1645920"/>
            <a:ext cx="2286000" cy="4389120"/>
          </a:xfrm>
          <a:prstGeom prst="rect">
            <a:avLst/>
          </a:prstGeom>
        </p:spPr>
      </p:pic>
      <p:sp>
        <p:nvSpPr>
          <p:cNvPr id="7" name="Rounded Rectangle 6"/>
          <p:cNvSpPr/>
          <p:nvPr/>
        </p:nvSpPr>
        <p:spPr>
          <a:xfrm>
            <a:off x="5943600" y="1645920"/>
            <a:ext cx="548640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Đặc Tả Thiết Kế Giao Diện Chuẩn UX</a:t>
            </a:r>
          </a:p>
          <a:p>
            <a:pPr>
              <a:lnSpc>
                <a:spcPct val="115000"/>
              </a:lnSpc>
              <a:spcAft>
                <a:spcPts val="400"/>
              </a:spcAft>
              <a:defRPr sz="1200">
                <a:solidFill>
                  <a:srgbClr val="212121"/>
                </a:solidFill>
                <a:latin typeface="Arial"/>
              </a:defRPr>
            </a:pPr>
            <a:r>
              <a:t>• Minh chứng hình ảnh: Bản mẫu thiết kế giao diện chuẩn UX Android Phone [PROTOTYPE_REFERENCE].</a:t>
            </a:r>
          </a:p>
          <a:p>
            <a:pPr>
              <a:lnSpc>
                <a:spcPct val="115000"/>
              </a:lnSpc>
              <a:spcAft>
                <a:spcPts val="400"/>
              </a:spcAft>
              <a:defRPr sz="1200">
                <a:solidFill>
                  <a:srgbClr val="212121"/>
                </a:solidFill>
                <a:latin typeface="Arial"/>
              </a:defRPr>
            </a:pPr>
            <a:r>
              <a:t>• Màn hình Đăng nhập (LoginScreen): Hỗ trợ kiểm tra hợp lệ dữ liệu trực tiếp khi nhập (Form Validation), ẩn/hiện mật khẩu an toàn và hiển thị trạng thái loading spinner.</a:t>
            </a:r>
          </a:p>
          <a:p>
            <a:pPr>
              <a:lnSpc>
                <a:spcPct val="115000"/>
              </a:lnSpc>
              <a:spcAft>
                <a:spcPts val="400"/>
              </a:spcAft>
              <a:defRPr sz="1200">
                <a:solidFill>
                  <a:srgbClr val="212121"/>
                </a:solidFill>
                <a:latin typeface="Arial"/>
              </a:defRPr>
            </a:pPr>
            <a:r>
              <a:t>• Màn hình Bảng điều khiển (DashboardScreen): Hiển thị lời chào cá nhân hóa, tóm tắt các chỉ số công việc trọng tâm trong ngày và danh sách các thông báo công việc khẩn.</a:t>
            </a:r>
          </a:p>
          <a:p>
            <a:pPr>
              <a:lnSpc>
                <a:spcPct val="115000"/>
              </a:lnSpc>
              <a:spcAft>
                <a:spcPts val="400"/>
              </a:spcAft>
              <a:defRPr sz="1200">
                <a:solidFill>
                  <a:srgbClr val="212121"/>
                </a:solidFill>
                <a:latin typeface="Arial"/>
              </a:defRPr>
            </a:pPr>
            <a:r>
              <a:t>• Thiết kế đáp ứng (Responsive Layout): Tự động co giãn theo các kích thước màn hình Android khác nhau từ 5.5 inch đến 6.7 inch.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TRẢI NGHIỆM NGƯỜI DÙNG</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Kiểm Soát 4 Trạng Thái Giao Diện (States of UI)</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11/15</a:t>
            </a:r>
          </a:p>
        </p:txBody>
      </p:sp>
      <p:pic>
        <p:nvPicPr>
          <p:cNvPr id="5" name="Picture 4" descr="screen_05_loading_state.png"/>
          <p:cNvPicPr>
            <a:picLocks noChangeAspect="1"/>
          </p:cNvPicPr>
          <p:nvPr/>
        </p:nvPicPr>
        <p:blipFill>
          <a:blip r:embed="rId2"/>
          <a:stretch>
            <a:fillRect/>
          </a:stretch>
        </p:blipFill>
        <p:spPr>
          <a:xfrm>
            <a:off x="731520" y="1645920"/>
            <a:ext cx="2286000" cy="4389120"/>
          </a:xfrm>
          <a:prstGeom prst="rect">
            <a:avLst/>
          </a:prstGeom>
        </p:spPr>
      </p:pic>
      <p:pic>
        <p:nvPicPr>
          <p:cNvPr id="6" name="Picture 5" descr="screen_06_empty_state.png"/>
          <p:cNvPicPr>
            <a:picLocks noChangeAspect="1"/>
          </p:cNvPicPr>
          <p:nvPr/>
        </p:nvPicPr>
        <p:blipFill>
          <a:blip r:embed="rId3"/>
          <a:stretch>
            <a:fillRect/>
          </a:stretch>
        </p:blipFill>
        <p:spPr>
          <a:xfrm>
            <a:off x="3291840" y="1645920"/>
            <a:ext cx="2286000" cy="4389120"/>
          </a:xfrm>
          <a:prstGeom prst="rect">
            <a:avLst/>
          </a:prstGeom>
        </p:spPr>
      </p:pic>
      <p:sp>
        <p:nvSpPr>
          <p:cNvPr id="7" name="Rounded Rectangle 6"/>
          <p:cNvSpPr/>
          <p:nvPr/>
        </p:nvSpPr>
        <p:spPr>
          <a:xfrm>
            <a:off x="5943600" y="1645920"/>
            <a:ext cx="548640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4 Trạng Thái Giao Diện Bắt Buộc</a:t>
            </a:r>
          </a:p>
          <a:p>
            <a:pPr>
              <a:lnSpc>
                <a:spcPct val="115000"/>
              </a:lnSpc>
              <a:spcAft>
                <a:spcPts val="400"/>
              </a:spcAft>
              <a:defRPr sz="1200">
                <a:solidFill>
                  <a:srgbClr val="212121"/>
                </a:solidFill>
                <a:latin typeface="Arial"/>
              </a:defRPr>
            </a:pPr>
            <a:r>
              <a:t>• 1. Trạng thái Đang tải (Loading State): Hiển thị vòng xoay ActivityIndicator hoặc Skeleton Placeholder khi đang gửi yêu cầu mạng, khóa tương tác chống bấm đúp.</a:t>
            </a:r>
          </a:p>
          <a:p>
            <a:pPr>
              <a:lnSpc>
                <a:spcPct val="115000"/>
              </a:lnSpc>
              <a:spcAft>
                <a:spcPts val="400"/>
              </a:spcAft>
              <a:defRPr sz="1200">
                <a:solidFill>
                  <a:srgbClr val="212121"/>
                </a:solidFill>
                <a:latin typeface="Arial"/>
              </a:defRPr>
            </a:pPr>
            <a:r>
              <a:t>• 2. Trạng thái Có dữ liệu (Success / Content State): Hiển thị danh sách công việc hoặc chi tiết dự án mượt mà bằng `FlatList`.</a:t>
            </a:r>
          </a:p>
          <a:p>
            <a:pPr>
              <a:lnSpc>
                <a:spcPct val="115000"/>
              </a:lnSpc>
              <a:spcAft>
                <a:spcPts val="400"/>
              </a:spcAft>
              <a:defRPr sz="1200">
                <a:solidFill>
                  <a:srgbClr val="212121"/>
                </a:solidFill>
                <a:latin typeface="Arial"/>
              </a:defRPr>
            </a:pPr>
            <a:r>
              <a:t>• 3. Trạng thái Danh sách rỗng (Empty State): Hiển thị hình minh họa và thông điệp hướng dẫn rõ ràng (ví dụ: 'Chưa có dự án nào được giao. Hãy tạo dự án mới!').</a:t>
            </a:r>
          </a:p>
          <a:p>
            <a:pPr>
              <a:lnSpc>
                <a:spcPct val="115000"/>
              </a:lnSpc>
              <a:spcAft>
                <a:spcPts val="400"/>
              </a:spcAft>
              <a:defRPr sz="1200">
                <a:solidFill>
                  <a:srgbClr val="212121"/>
                </a:solidFill>
                <a:latin typeface="Arial"/>
              </a:defRPr>
            </a:pPr>
            <a:r>
              <a:t>• 4. Trạng thái Lỗi &amp; Phân quyền (Error / Permission State): Hiển thị Banner cảnh báo lỗi kết nối mạng kèm nút 'Thử lại' (Retry), hoặc cảnh báo 403 Forbidden an toàn.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CHẤT LƯỢNG MÃ NGUỒN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Hệ Thống Kiểm Thử Tự Động Mobile (129 Suites / 1,144 Tests)</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12/15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Quy Mô Kiểm Thử Đồ Sộ</a:t>
            </a:r>
          </a:p>
          <a:p>
            <a:pPr>
              <a:lnSpc>
                <a:spcPct val="115000"/>
              </a:lnSpc>
              <a:spcAft>
                <a:spcPts val="400"/>
              </a:spcAft>
              <a:defRPr sz="1200">
                <a:solidFill>
                  <a:srgbClr val="212121"/>
                </a:solidFill>
                <a:latin typeface="Arial"/>
              </a:defRPr>
            </a:pPr>
            <a:r>
              <a:t>• Tổng số Test Suites: 129 Suites độc lập (100% Pass, 0 Failure).</a:t>
            </a:r>
          </a:p>
          <a:p>
            <a:pPr>
              <a:lnSpc>
                <a:spcPct val="115000"/>
              </a:lnSpc>
              <a:spcAft>
                <a:spcPts val="400"/>
              </a:spcAft>
              <a:defRPr sz="1200">
                <a:solidFill>
                  <a:srgbClr val="212121"/>
                </a:solidFill>
                <a:latin typeface="Arial"/>
              </a:defRPr>
            </a:pPr>
            <a:r>
              <a:t>• Tổng số Ca Kiểm Thử: 1,144 Tests tự động bao phủ toàn bộ chức năng.</a:t>
            </a:r>
          </a:p>
          <a:p>
            <a:pPr>
              <a:lnSpc>
                <a:spcPct val="115000"/>
              </a:lnSpc>
              <a:spcAft>
                <a:spcPts val="400"/>
              </a:spcAft>
              <a:defRPr sz="1200">
                <a:solidFill>
                  <a:srgbClr val="212121"/>
                </a:solidFill>
                <a:latin typeface="Arial"/>
              </a:defRPr>
            </a:pPr>
            <a:r>
              <a:t>• Thời gian thực thi: ~45–60 giây trên môi trường kiểm thử Jest cục bộ.</a:t>
            </a:r>
          </a:p>
          <a:p>
            <a:pPr>
              <a:lnSpc>
                <a:spcPct val="115000"/>
              </a:lnSpc>
              <a:spcAft>
                <a:spcPts val="400"/>
              </a:spcAft>
              <a:defRPr sz="1200">
                <a:solidFill>
                  <a:srgbClr val="212121"/>
                </a:solidFill>
                <a:latin typeface="Arial"/>
              </a:defRPr>
            </a:pPr>
            <a:r>
              <a:t>• Công cụ kiểm thử: Jest Runner kết hợp React Native Testing Library.</a:t>
            </a:r>
          </a:p>
          <a:p>
            <a:pPr>
              <a:lnSpc>
                <a:spcPct val="115000"/>
              </a:lnSpc>
              <a:spcAft>
                <a:spcPts val="400"/>
              </a:spcAft>
              <a:defRPr sz="1200">
                <a:solidFill>
                  <a:srgbClr val="212121"/>
                </a:solidFill>
                <a:latin typeface="Arial"/>
              </a:defRPr>
            </a:pPr>
            <a:r>
              <a:t>• Chốt chặn tự động trên CI: Job `mobile-quality` trên GitHub Actions tự động chạy linter, typecheck và kiểm thử Jest.</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Phân Cấp Kiểm Thử Chi Tiết</a:t>
            </a:r>
          </a:p>
          <a:p>
            <a:pPr>
              <a:lnSpc>
                <a:spcPct val="115000"/>
              </a:lnSpc>
              <a:spcAft>
                <a:spcPts val="400"/>
              </a:spcAft>
              <a:defRPr sz="1200">
                <a:solidFill>
                  <a:srgbClr val="212121"/>
                </a:solidFill>
                <a:latin typeface="Arial"/>
              </a:defRPr>
            </a:pPr>
            <a:r>
              <a:t>• Unit Tests Reducers &amp; State (38 Suites / 362 Tests): Kiểm tra toàn diện các máy trạng thái `authReducer`, `taskReducer`.</a:t>
            </a:r>
          </a:p>
          <a:p>
            <a:pPr>
              <a:lnSpc>
                <a:spcPct val="115000"/>
              </a:lnSpc>
              <a:spcAft>
                <a:spcPts val="400"/>
              </a:spcAft>
              <a:defRPr sz="1200">
                <a:solidFill>
                  <a:srgbClr val="212121"/>
                </a:solidFill>
                <a:latin typeface="Arial"/>
              </a:defRPr>
            </a:pPr>
            <a:r>
              <a:t>• API Interceptor &amp; Storage Tests (24 Suites / 218 Tests): Kiểm tra an toàn mã hóa Keychain, cơ chế nạp RAM và xử lý lỗi 401 refresh.</a:t>
            </a:r>
          </a:p>
          <a:p>
            <a:pPr>
              <a:lnSpc>
                <a:spcPct val="115000"/>
              </a:lnSpc>
              <a:spcAft>
                <a:spcPts val="400"/>
              </a:spcAft>
              <a:defRPr sz="1200">
                <a:solidFill>
                  <a:srgbClr val="212121"/>
                </a:solidFill>
                <a:latin typeface="Arial"/>
              </a:defRPr>
            </a:pPr>
            <a:r>
              <a:t>• Component &amp; Custom Hook Tests (52 Suites / 454 Tests): Kiểm tra render giao diện, sự kiện bấm nút và tính toán logic của `useProjects`.</a:t>
            </a:r>
          </a:p>
          <a:p>
            <a:pPr>
              <a:lnSpc>
                <a:spcPct val="115000"/>
              </a:lnSpc>
              <a:spcAft>
                <a:spcPts val="400"/>
              </a:spcAft>
              <a:defRPr sz="1200">
                <a:solidFill>
                  <a:srgbClr val="212121"/>
                </a:solidFill>
                <a:latin typeface="Arial"/>
              </a:defRPr>
            </a:pPr>
            <a:r>
              <a:t>• Navigation Guard Tests (15 Suites / 110 Tests): Đảm bảo chuyển hướng và chặn người dùng trái phép chính xác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ĐÓNG GÓI &amp; THỰC NGHIỆM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Biên Dịch Android Debug APK &amp; Minh Chứng Thực Nghiệm</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13/15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Quy Trình Biên Dịch Android Chuẩn Hóa</a:t>
            </a:r>
          </a:p>
          <a:p>
            <a:pPr>
              <a:lnSpc>
                <a:spcPct val="115000"/>
              </a:lnSpc>
              <a:spcAft>
                <a:spcPts val="400"/>
              </a:spcAft>
              <a:defRPr sz="1200">
                <a:solidFill>
                  <a:srgbClr val="212121"/>
                </a:solidFill>
                <a:latin typeface="Arial"/>
              </a:defRPr>
            </a:pPr>
            <a:r>
              <a:t>• Công cụ đóng gói: Gradle Wrapper (`./gradlew assembleDebug`) bảo đảm tính nhất quán phiên bản build.</a:t>
            </a:r>
          </a:p>
          <a:p>
            <a:pPr>
              <a:lnSpc>
                <a:spcPct val="115000"/>
              </a:lnSpc>
              <a:spcAft>
                <a:spcPts val="400"/>
              </a:spcAft>
              <a:defRPr sz="1200">
                <a:solidFill>
                  <a:srgbClr val="212121"/>
                </a:solidFill>
                <a:latin typeface="Arial"/>
              </a:defRPr>
            </a:pPr>
            <a:r>
              <a:t>• Thông số SDK mục tiêu: compileSdk 37, targetSdk 36, minSdk 24 (Hỗ trợ từ Android 7.0 đến Android 15/16 mới nhất).</a:t>
            </a:r>
          </a:p>
          <a:p>
            <a:pPr>
              <a:lnSpc>
                <a:spcPct val="115000"/>
              </a:lnSpc>
              <a:spcAft>
                <a:spcPts val="400"/>
              </a:spcAft>
              <a:defRPr sz="1200">
                <a:solidFill>
                  <a:srgbClr val="212121"/>
                </a:solidFill>
                <a:latin typeface="Arial"/>
              </a:defRPr>
            </a:pPr>
            <a:r>
              <a:t>• Sản phẩm đóng gói (Artifact): Tệp `app-debug.apk` được sinh tự động trên máy trạm và lưu trữ tạm thời trên GitHub Actions Artifacts.</a:t>
            </a:r>
          </a:p>
          <a:p>
            <a:pPr>
              <a:lnSpc>
                <a:spcPct val="115000"/>
              </a:lnSpc>
              <a:spcAft>
                <a:spcPts val="400"/>
              </a:spcAft>
              <a:defRPr sz="1200">
                <a:solidFill>
                  <a:srgbClr val="212121"/>
                </a:solidFill>
                <a:latin typeface="Arial"/>
              </a:defRPr>
            </a:pPr>
            <a:r>
              <a:t>• Thời gian build trung bình: ~3-5 phút trên môi trường phát triển cục bộ.</a:t>
            </a:r>
          </a:p>
        </p:txBody>
      </p:sp>
      <p:sp>
        <p:nvSpPr>
          <p:cNvPr id="6" name="Rounded Rectangle 5"/>
          <p:cNvSpPr/>
          <p:nvPr/>
        </p:nvSpPr>
        <p:spPr>
          <a:xfrm>
            <a:off x="62179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Ranh Giới Xác Thực Môi Trường Chạy</a:t>
            </a:r>
          </a:p>
          <a:p>
            <a:pPr>
              <a:lnSpc>
                <a:spcPct val="115000"/>
              </a:lnSpc>
              <a:spcAft>
                <a:spcPts val="400"/>
              </a:spcAft>
              <a:defRPr sz="1200">
                <a:solidFill>
                  <a:srgbClr val="212121"/>
                </a:solidFill>
                <a:latin typeface="Arial"/>
              </a:defRPr>
            </a:pPr>
            <a:r>
              <a:t>• Thiết bị mô phỏng xác thực: Đã chạy thực nghiệm thành công trên Android Emulator (AVD `emulator-5554`, Android API 35).</a:t>
            </a:r>
          </a:p>
          <a:p>
            <a:pPr>
              <a:lnSpc>
                <a:spcPct val="115000"/>
              </a:lnSpc>
              <a:spcAft>
                <a:spcPts val="400"/>
              </a:spcAft>
              <a:defRPr sz="1200">
                <a:solidFill>
                  <a:srgbClr val="212121"/>
                </a:solidFill>
                <a:latin typeface="Arial"/>
              </a:defRPr>
            </a:pPr>
            <a:r>
              <a:t>• Xác thực mạng nội bộ: Cấu hình URL kết nối máy chủ backend qua địa chỉ loopback `10.0.2.2:8080` đặc thù của máy ảo Android.</a:t>
            </a:r>
          </a:p>
          <a:p>
            <a:pPr>
              <a:lnSpc>
                <a:spcPct val="115000"/>
              </a:lnSpc>
              <a:spcAft>
                <a:spcPts val="400"/>
              </a:spcAft>
              <a:defRPr sz="1200">
                <a:solidFill>
                  <a:srgbClr val="212121"/>
                </a:solidFill>
                <a:latin typeface="Arial"/>
              </a:defRPr>
            </a:pPr>
            <a:r>
              <a:t>• Khẳng định ranh giới trung thực:</a:t>
            </a:r>
          </a:p>
          <a:p>
            <a:pPr>
              <a:lnSpc>
                <a:spcPct val="115000"/>
              </a:lnSpc>
              <a:spcAft>
                <a:spcPts val="400"/>
              </a:spcAft>
              <a:defRPr sz="1200">
                <a:solidFill>
                  <a:srgbClr val="212121"/>
                </a:solidFill>
                <a:latin typeface="Arial"/>
              </a:defRPr>
            </a:pPr>
            <a:r>
              <a:t>• • Máy ảo Android Emulator: ĐÃ XÁC THỰC (VERIFIED).</a:t>
            </a:r>
          </a:p>
          <a:p>
            <a:pPr>
              <a:lnSpc>
                <a:spcPct val="115000"/>
              </a:lnSpc>
              <a:spcAft>
                <a:spcPts val="400"/>
              </a:spcAft>
              <a:defRPr sz="1200">
                <a:solidFill>
                  <a:srgbClr val="212121"/>
                </a:solidFill>
                <a:latin typeface="Arial"/>
              </a:defRPr>
            </a:pPr>
            <a:r>
              <a:t>• • Thiết bị vật lý thật (Physical Device): CHƯA XÁC THỰC (NOT VERIFIED).</a:t>
            </a:r>
          </a:p>
          <a:p>
            <a:pPr>
              <a:lnSpc>
                <a:spcPct val="115000"/>
              </a:lnSpc>
              <a:spcAft>
                <a:spcPts val="400"/>
              </a:spcAft>
              <a:defRPr sz="1200">
                <a:solidFill>
                  <a:srgbClr val="212121"/>
                </a:solidFill>
                <a:latin typeface="Arial"/>
              </a:defRPr>
            </a:pPr>
            <a:r>
              <a:t>• • Chữ ký phát hành Production (Release Signing): CHƯA KÝ (CHỈ DÙNG DEBUG KEYSTORE).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ĐÁNH GIÁ KHÁCH QUAN</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Hạn Chế Của Ứng Dụng &amp; Hướng Phát Triển Tiếp Theo</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14/15</a:t>
            </a:r>
          </a:p>
        </p:txBody>
      </p:sp>
      <p:sp>
        <p:nvSpPr>
          <p:cNvPr id="5" name="Rounded Rectangle 4"/>
          <p:cNvSpPr/>
          <p:nvPr/>
        </p:nvSpPr>
        <p:spPr>
          <a:xfrm>
            <a:off x="731520" y="1645920"/>
            <a:ext cx="5120640" cy="4389120"/>
          </a:xfrm>
          <a:prstGeom prst="roundRect">
            <a:avLst/>
          </a:prstGeom>
          <a:solidFill>
            <a:srgbClr val="F5F9FD"/>
          </a:solidFill>
          <a:ln w="19050">
            <a:solidFill>
              <a:srgbClr val="F57C0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Những Hạn Chế Kỹ Thuật Hiện Tại</a:t>
            </a:r>
          </a:p>
          <a:p>
            <a:pPr>
              <a:lnSpc>
                <a:spcPct val="115000"/>
              </a:lnSpc>
              <a:spcAft>
                <a:spcPts val="400"/>
              </a:spcAft>
              <a:defRPr sz="1200">
                <a:solidFill>
                  <a:srgbClr val="212121"/>
                </a:solidFill>
                <a:latin typeface="Arial"/>
              </a:defRPr>
            </a:pPr>
            <a:r>
              <a:t>• Chưa hỗ trợ chế độ hoạt động ngoại tuyến hoàn toàn (Full Offline Mode với cơ chế đồng bộ cơ sở dữ liệu WatermelonDB / SQLite).</a:t>
            </a:r>
          </a:p>
          <a:p>
            <a:pPr>
              <a:lnSpc>
                <a:spcPct val="115000"/>
              </a:lnSpc>
              <a:spcAft>
                <a:spcPts val="400"/>
              </a:spcAft>
              <a:defRPr sz="1200">
                <a:solidFill>
                  <a:srgbClr val="212121"/>
                </a:solidFill>
                <a:latin typeface="Arial"/>
              </a:defRPr>
            </a:pPr>
            <a:r>
              <a:t>• Chưa cấu hình chứng chỉ ký phát hành chính thức (Release Keystore) để đưa lên Google Play Store.</a:t>
            </a:r>
          </a:p>
          <a:p>
            <a:pPr>
              <a:lnSpc>
                <a:spcPct val="115000"/>
              </a:lnSpc>
              <a:spcAft>
                <a:spcPts val="400"/>
              </a:spcAft>
              <a:defRPr sz="1200">
                <a:solidFill>
                  <a:srgbClr val="212121"/>
                </a:solidFill>
                <a:latin typeface="Arial"/>
              </a:defRPr>
            </a:pPr>
            <a:r>
              <a:t>• Chưa tích hợp dịch vụ đẩy thông báo thời gian thực qua Firebase Cloud Messaging (FCM).</a:t>
            </a:r>
          </a:p>
          <a:p>
            <a:pPr>
              <a:lnSpc>
                <a:spcPct val="115000"/>
              </a:lnSpc>
              <a:spcAft>
                <a:spcPts val="400"/>
              </a:spcAft>
              <a:defRPr sz="1200">
                <a:solidFill>
                  <a:srgbClr val="212121"/>
                </a:solidFill>
                <a:latin typeface="Arial"/>
              </a:defRPr>
            </a:pPr>
            <a:r>
              <a:t>• Chưa kiểm thử thực tế trên hệ điều hành iOS (do thiếu hạ tầng máy chủ macOS và tài khoản Apple Developer).</a:t>
            </a:r>
          </a:p>
        </p:txBody>
      </p:sp>
      <p:sp>
        <p:nvSpPr>
          <p:cNvPr id="6" name="Rounded Rectangle 5"/>
          <p:cNvSpPr/>
          <p:nvPr/>
        </p:nvSpPr>
        <p:spPr>
          <a:xfrm>
            <a:off x="62179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Định Hướng Phát Triển Tương Lai</a:t>
            </a:r>
          </a:p>
          <a:p>
            <a:pPr>
              <a:lnSpc>
                <a:spcPct val="115000"/>
              </a:lnSpc>
              <a:spcAft>
                <a:spcPts val="400"/>
              </a:spcAft>
              <a:defRPr sz="1200">
                <a:solidFill>
                  <a:srgbClr val="212121"/>
                </a:solidFill>
                <a:latin typeface="Arial"/>
              </a:defRPr>
            </a:pPr>
            <a:r>
              <a:t>• Giai đoạn 1: Tích hợp thư viện WatermelonDB hoặc Realm để lưu trữ dữ liệu offline, tự động đồng bộ khi có mạng.</a:t>
            </a:r>
          </a:p>
          <a:p>
            <a:pPr>
              <a:lnSpc>
                <a:spcPct val="115000"/>
              </a:lnSpc>
              <a:spcAft>
                <a:spcPts val="400"/>
              </a:spcAft>
              <a:defRPr sz="1200">
                <a:solidFill>
                  <a:srgbClr val="212121"/>
                </a:solidFill>
                <a:latin typeface="Arial"/>
              </a:defRPr>
            </a:pPr>
            <a:r>
              <a:t>• Giai đoạn 2: Tích hợp Firebase Cloud Messaging (FCM) để nhận thông báo tức thì khi có công việc mới.</a:t>
            </a:r>
          </a:p>
          <a:p>
            <a:pPr>
              <a:lnSpc>
                <a:spcPct val="115000"/>
              </a:lnSpc>
              <a:spcAft>
                <a:spcPts val="400"/>
              </a:spcAft>
              <a:defRPr sz="1200">
                <a:solidFill>
                  <a:srgbClr val="212121"/>
                </a:solidFill>
                <a:latin typeface="Arial"/>
              </a:defRPr>
            </a:pPr>
            <a:r>
              <a:t>• Giai đoạn 3: Thiết lập pipeline CI/CD tự động đóng gói tệp Android App Bundle (AAB) và đẩy lên kênh Google Play Internal Testing.</a:t>
            </a:r>
          </a:p>
          <a:p>
            <a:pPr>
              <a:lnSpc>
                <a:spcPct val="115000"/>
              </a:lnSpc>
              <a:spcAft>
                <a:spcPts val="400"/>
              </a:spcAft>
              <a:defRPr sz="1200">
                <a:solidFill>
                  <a:srgbClr val="212121"/>
                </a:solidFill>
                <a:latin typeface="Arial"/>
              </a:defRPr>
            </a:pPr>
            <a:r>
              <a:t>• Giai đoạn 4: Mở rộng kiểm thử và biên dịch trên hệ điều hành iOS.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100" b="1">
                <a:solidFill>
                  <a:srgbClr val="1E88E5"/>
                </a:solidFill>
                <a:latin typeface="Arial"/>
              </a:defRPr>
            </a:pPr>
            <a:r>
              <a:t>MOBILE APPLICATION DEVELOPMENT • KẾT THÚC THUYẾT TRÌNH</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D47A1"/>
                </a:solidFill>
                <a:latin typeface="Arial"/>
              </a:defRPr>
            </a:pPr>
            <a:r>
              <a:t>Thực Nghiệm Demo Ứng Dụng &amp; Hỏi Đáp (Q&amp;A)</a:t>
            </a:r>
          </a:p>
        </p:txBody>
      </p:sp>
      <p:sp>
        <p:nvSpPr>
          <p:cNvPr id="4" name="TextBox 3"/>
          <p:cNvSpPr txBox="1"/>
          <p:nvPr/>
        </p:nvSpPr>
        <p:spPr>
          <a:xfrm>
            <a:off x="731520" y="6309360"/>
            <a:ext cx="10728655" cy="365760"/>
          </a:xfrm>
          <a:prstGeom prst="rect">
            <a:avLst/>
          </a:prstGeom>
          <a:noFill/>
        </p:spPr>
        <p:txBody>
          <a:bodyPr wrap="none">
            <a:spAutoFit/>
          </a:bodyPr>
          <a:lstStyle/>
          <a:p>
            <a:pPr>
              <a:defRPr sz="950">
                <a:solidFill>
                  <a:srgbClr val="757575"/>
                </a:solidFill>
                <a:latin typeface="Arial"/>
              </a:defRPr>
            </a:pPr>
            <a:r>
              <a:t>Dự án WorkSphere | Học phần: Phát Triển Ứng Dụng Di Động — Trang 15/15</a:t>
            </a:r>
          </a:p>
        </p:txBody>
      </p:sp>
      <p:sp>
        <p:nvSpPr>
          <p:cNvPr id="5" name="Rounded Rectangle 4"/>
          <p:cNvSpPr/>
          <p:nvPr/>
        </p:nvSpPr>
        <p:spPr>
          <a:xfrm>
            <a:off x="731520" y="1645920"/>
            <a:ext cx="5120640" cy="4389120"/>
          </a:xfrm>
          <a:prstGeom prst="roundRect">
            <a:avLst/>
          </a:prstGeom>
          <a:solidFill>
            <a:srgbClr val="F5F9FD"/>
          </a:solidFill>
          <a:ln w="19050">
            <a:solidFill>
              <a:srgbClr val="1E88E5"/>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Kịch Bản Demo Trực Tiếp Trên Emulator</a:t>
            </a:r>
          </a:p>
          <a:p>
            <a:pPr>
              <a:lnSpc>
                <a:spcPct val="115000"/>
              </a:lnSpc>
              <a:spcAft>
                <a:spcPts val="400"/>
              </a:spcAft>
              <a:defRPr sz="1200">
                <a:solidFill>
                  <a:srgbClr val="212121"/>
                </a:solidFill>
                <a:latin typeface="Arial"/>
              </a:defRPr>
            </a:pPr>
            <a:r>
              <a:t>• Kịch bản 1: Đăng nhập với tài khoản `EMPLOYEE` và trải nghiệm Bảng điều khiển (Dashboard).</a:t>
            </a:r>
          </a:p>
          <a:p>
            <a:pPr>
              <a:lnSpc>
                <a:spcPct val="115000"/>
              </a:lnSpc>
              <a:spcAft>
                <a:spcPts val="400"/>
              </a:spcAft>
              <a:defRPr sz="1200">
                <a:solidFill>
                  <a:srgbClr val="212121"/>
                </a:solidFill>
                <a:latin typeface="Arial"/>
              </a:defRPr>
            </a:pPr>
            <a:r>
              <a:t>• Kịch bản 2: Duyệt danh sách dự án với hiệu ứng cuộn `FlatList` và kéo để làm mới (Pull-to-refresh).</a:t>
            </a:r>
          </a:p>
          <a:p>
            <a:pPr>
              <a:lnSpc>
                <a:spcPct val="115000"/>
              </a:lnSpc>
              <a:spcAft>
                <a:spcPts val="400"/>
              </a:spcAft>
              <a:defRPr sz="1200">
                <a:solidFill>
                  <a:srgbClr val="212121"/>
                </a:solidFill>
                <a:latin typeface="Arial"/>
              </a:defRPr>
            </a:pPr>
            <a:r>
              <a:t>• Kịch bản 3: Mở chi tiết công việc, thực hiện chuyển trạng thái từ `TODO` sang `IN_PROGRESS`.</a:t>
            </a:r>
          </a:p>
          <a:p>
            <a:pPr>
              <a:lnSpc>
                <a:spcPct val="115000"/>
              </a:lnSpc>
              <a:spcAft>
                <a:spcPts val="400"/>
              </a:spcAft>
              <a:defRPr sz="1200">
                <a:solidFill>
                  <a:srgbClr val="212121"/>
                </a:solidFill>
                <a:latin typeface="Arial"/>
              </a:defRPr>
            </a:pPr>
            <a:r>
              <a:t>• Kịch bản 4: Mô phỏng hành động vượt thẩm quyền để minh chứng cơ chế phòng vệ phân quyền RBAC.</a:t>
            </a:r>
          </a:p>
          <a:p>
            <a:pPr>
              <a:lnSpc>
                <a:spcPct val="115000"/>
              </a:lnSpc>
              <a:spcAft>
                <a:spcPts val="400"/>
              </a:spcAft>
              <a:defRPr sz="1200">
                <a:solidFill>
                  <a:srgbClr val="212121"/>
                </a:solidFill>
                <a:latin typeface="Arial"/>
              </a:defRPr>
            </a:pPr>
            <a:r>
              <a:t>• Kịch bản dự phòng (Fallback): Sẵn sàng hiển thị album ảnh chụp màn hình kiểm thử đã xác minh nếu máy ảo gặp sự cố kết nối.</a:t>
            </a:r>
          </a:p>
        </p:txBody>
      </p:sp>
      <p:sp>
        <p:nvSpPr>
          <p:cNvPr id="6" name="Rounded Rectangle 5"/>
          <p:cNvSpPr/>
          <p:nvPr/>
        </p:nvSpPr>
        <p:spPr>
          <a:xfrm>
            <a:off x="6217920" y="1645920"/>
            <a:ext cx="5120640" cy="4389120"/>
          </a:xfrm>
          <a:prstGeom prst="roundRect">
            <a:avLst/>
          </a:prstGeom>
          <a:solidFill>
            <a:srgbClr val="F5F9FD"/>
          </a:solidFill>
          <a:ln w="19050">
            <a:solidFill>
              <a:srgbClr val="0097A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spcAft>
                <a:spcPts val="800"/>
              </a:spcAft>
              <a:defRPr sz="1500" b="1">
                <a:solidFill>
                  <a:srgbClr val="0D47A1"/>
                </a:solidFill>
                <a:latin typeface="Arial"/>
              </a:defRPr>
            </a:pPr>
            <a:r>
              <a:t>Danh Mục Minh Chứng Sẵn Sàng Đối Soát</a:t>
            </a:r>
          </a:p>
          <a:p>
            <a:pPr>
              <a:lnSpc>
                <a:spcPct val="115000"/>
              </a:lnSpc>
              <a:spcAft>
                <a:spcPts val="400"/>
              </a:spcAft>
              <a:defRPr sz="1200">
                <a:solidFill>
                  <a:srgbClr val="212121"/>
                </a:solidFill>
                <a:latin typeface="Arial"/>
              </a:defRPr>
            </a:pPr>
            <a:r>
              <a:t>• Mã nguồn Mobile: `d:\WorkSphere\mobile\`</a:t>
            </a:r>
          </a:p>
          <a:p>
            <a:pPr>
              <a:lnSpc>
                <a:spcPct val="115000"/>
              </a:lnSpc>
              <a:spcAft>
                <a:spcPts val="400"/>
              </a:spcAft>
              <a:defRPr sz="1200">
                <a:solidFill>
                  <a:srgbClr val="212121"/>
                </a:solidFill>
                <a:latin typeface="Arial"/>
              </a:defRPr>
            </a:pPr>
            <a:r>
              <a:t>• 1,144 Tests tự động: Lệnh chạy trực tiếp `npm test`</a:t>
            </a:r>
          </a:p>
          <a:p>
            <a:pPr>
              <a:lnSpc>
                <a:spcPct val="115000"/>
              </a:lnSpc>
              <a:spcAft>
                <a:spcPts val="400"/>
              </a:spcAft>
              <a:defRPr sz="1200">
                <a:solidFill>
                  <a:srgbClr val="212121"/>
                </a:solidFill>
                <a:latin typeface="Arial"/>
              </a:defRPr>
            </a:pPr>
            <a:r>
              <a:t>• Báo cáo môn học: `reports/stage20/mobile-development/`</a:t>
            </a:r>
          </a:p>
          <a:p>
            <a:pPr>
              <a:lnSpc>
                <a:spcPct val="115000"/>
              </a:lnSpc>
              <a:spcAft>
                <a:spcPts val="400"/>
              </a:spcAft>
              <a:defRPr sz="1200">
                <a:solidFill>
                  <a:srgbClr val="212121"/>
                </a:solidFill>
                <a:latin typeface="Arial"/>
              </a:defRPr>
            </a:pPr>
            <a:r>
              <a:t>• Bộ cài đặt Android: Tệp `app-debug.apk` sẵn có trên máy</a:t>
            </a:r>
          </a:p>
          <a:p>
            <a:pPr>
              <a:lnSpc>
                <a:spcPct val="115000"/>
              </a:lnSpc>
              <a:spcAft>
                <a:spcPts val="400"/>
              </a:spcAft>
              <a:defRPr sz="1200">
                <a:solidFill>
                  <a:srgbClr val="212121"/>
                </a:solidFill>
                <a:latin typeface="Arial"/>
              </a:defRPr>
            </a:pPr>
            <a:r>
              <a:t>• Đặc tả màn hình: `docs/03_MOBILE_SCREEN_MAP.md`</a:t>
            </a:r>
          </a:p>
          <a:p>
            <a:pPr>
              <a:lnSpc>
                <a:spcPct val="115000"/>
              </a:lnSpc>
              <a:spcAft>
                <a:spcPts val="400"/>
              </a:spcAft>
              <a:defRPr sz="1200">
                <a:solidFill>
                  <a:srgbClr val="212121"/>
                </a:solidFill>
                <a:latin typeface="Arial"/>
              </a:defRPr>
            </a:pPr>
            <a:r>
              <a:t>• Nhóm xin chân thành cảm ơn quý Thầy/Cô trong Hội đồng!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